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p:cViewPr varScale="1">
        <p:scale>
          <a:sx n="69" d="100"/>
          <a:sy n="69" d="100"/>
        </p:scale>
        <p:origin x="144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5458775"/>
            <a:ext cx="9144000" cy="1399224"/>
          </a:xfrm>
          <a:prstGeom prst="rect">
            <a:avLst/>
          </a:prstGeom>
        </p:spPr>
      </p:pic>
      <p:pic>
        <p:nvPicPr>
          <p:cNvPr id="17" name="bg object 17"/>
          <p:cNvPicPr/>
          <p:nvPr/>
        </p:nvPicPr>
        <p:blipFill>
          <a:blip r:embed="rId8" cstate="print"/>
          <a:stretch>
            <a:fillRect/>
          </a:stretch>
        </p:blipFill>
        <p:spPr>
          <a:xfrm>
            <a:off x="0" y="801751"/>
            <a:ext cx="9144000" cy="238125"/>
          </a:xfrm>
          <a:prstGeom prst="rect">
            <a:avLst/>
          </a:prstGeom>
        </p:spPr>
      </p:pic>
      <p:sp>
        <p:nvSpPr>
          <p:cNvPr id="18" name="bg object 18"/>
          <p:cNvSpPr/>
          <p:nvPr/>
        </p:nvSpPr>
        <p:spPr>
          <a:xfrm>
            <a:off x="39687" y="595376"/>
            <a:ext cx="603250" cy="630555"/>
          </a:xfrm>
          <a:custGeom>
            <a:avLst/>
            <a:gdLst/>
            <a:ahLst/>
            <a:cxnLst/>
            <a:rect l="l" t="t" r="r" b="b"/>
            <a:pathLst>
              <a:path w="603250" h="630555">
                <a:moveTo>
                  <a:pt x="301625" y="0"/>
                </a:moveTo>
                <a:lnTo>
                  <a:pt x="257052" y="3414"/>
                </a:lnTo>
                <a:lnTo>
                  <a:pt x="214510" y="13332"/>
                </a:lnTo>
                <a:lnTo>
                  <a:pt x="174466" y="29268"/>
                </a:lnTo>
                <a:lnTo>
                  <a:pt x="137385" y="50737"/>
                </a:lnTo>
                <a:lnTo>
                  <a:pt x="103735" y="77251"/>
                </a:lnTo>
                <a:lnTo>
                  <a:pt x="73982" y="108326"/>
                </a:lnTo>
                <a:lnTo>
                  <a:pt x="48592" y="143474"/>
                </a:lnTo>
                <a:lnTo>
                  <a:pt x="28033" y="182211"/>
                </a:lnTo>
                <a:lnTo>
                  <a:pt x="12770" y="224049"/>
                </a:lnTo>
                <a:lnTo>
                  <a:pt x="3270" y="268503"/>
                </a:lnTo>
                <a:lnTo>
                  <a:pt x="0" y="315087"/>
                </a:lnTo>
                <a:lnTo>
                  <a:pt x="3270" y="361641"/>
                </a:lnTo>
                <a:lnTo>
                  <a:pt x="12770" y="406078"/>
                </a:lnTo>
                <a:lnTo>
                  <a:pt x="28033" y="447907"/>
                </a:lnTo>
                <a:lnTo>
                  <a:pt x="48592" y="486642"/>
                </a:lnTo>
                <a:lnTo>
                  <a:pt x="73982" y="521795"/>
                </a:lnTo>
                <a:lnTo>
                  <a:pt x="103735" y="552879"/>
                </a:lnTo>
                <a:lnTo>
                  <a:pt x="137385" y="579404"/>
                </a:lnTo>
                <a:lnTo>
                  <a:pt x="174466" y="600884"/>
                </a:lnTo>
                <a:lnTo>
                  <a:pt x="214510" y="616831"/>
                </a:lnTo>
                <a:lnTo>
                  <a:pt x="257052" y="626757"/>
                </a:lnTo>
                <a:lnTo>
                  <a:pt x="301625" y="630174"/>
                </a:lnTo>
                <a:lnTo>
                  <a:pt x="346197" y="626757"/>
                </a:lnTo>
                <a:lnTo>
                  <a:pt x="388739" y="616831"/>
                </a:lnTo>
                <a:lnTo>
                  <a:pt x="428783" y="600884"/>
                </a:lnTo>
                <a:lnTo>
                  <a:pt x="465864" y="579404"/>
                </a:lnTo>
                <a:lnTo>
                  <a:pt x="499514" y="552879"/>
                </a:lnTo>
                <a:lnTo>
                  <a:pt x="529267" y="521795"/>
                </a:lnTo>
                <a:lnTo>
                  <a:pt x="554657" y="486642"/>
                </a:lnTo>
                <a:lnTo>
                  <a:pt x="575216" y="447907"/>
                </a:lnTo>
                <a:lnTo>
                  <a:pt x="590479" y="406078"/>
                </a:lnTo>
                <a:lnTo>
                  <a:pt x="599979" y="361641"/>
                </a:lnTo>
                <a:lnTo>
                  <a:pt x="603250" y="315087"/>
                </a:lnTo>
                <a:lnTo>
                  <a:pt x="599979" y="268503"/>
                </a:lnTo>
                <a:lnTo>
                  <a:pt x="590479" y="224049"/>
                </a:lnTo>
                <a:lnTo>
                  <a:pt x="575216" y="182211"/>
                </a:lnTo>
                <a:lnTo>
                  <a:pt x="554657" y="143474"/>
                </a:lnTo>
                <a:lnTo>
                  <a:pt x="529267" y="108326"/>
                </a:lnTo>
                <a:lnTo>
                  <a:pt x="499514" y="77251"/>
                </a:lnTo>
                <a:lnTo>
                  <a:pt x="465864" y="50737"/>
                </a:lnTo>
                <a:lnTo>
                  <a:pt x="428783" y="29268"/>
                </a:lnTo>
                <a:lnTo>
                  <a:pt x="388739" y="13332"/>
                </a:lnTo>
                <a:lnTo>
                  <a:pt x="346197" y="3414"/>
                </a:lnTo>
                <a:lnTo>
                  <a:pt x="301625" y="0"/>
                </a:lnTo>
                <a:close/>
              </a:path>
            </a:pathLst>
          </a:custGeom>
          <a:solidFill>
            <a:srgbClr val="FFFFFF"/>
          </a:solidFill>
        </p:spPr>
        <p:txBody>
          <a:bodyPr wrap="square" lIns="0" tIns="0" rIns="0" bIns="0" rtlCol="0"/>
          <a:lstStyle/>
          <a:p>
            <a:endParaRPr/>
          </a:p>
        </p:txBody>
      </p:sp>
      <p:pic>
        <p:nvPicPr>
          <p:cNvPr id="19" name="bg object 19"/>
          <p:cNvPicPr/>
          <p:nvPr/>
        </p:nvPicPr>
        <p:blipFill>
          <a:blip r:embed="rId9" cstate="print"/>
          <a:stretch>
            <a:fillRect/>
          </a:stretch>
        </p:blipFill>
        <p:spPr>
          <a:xfrm>
            <a:off x="74612" y="647763"/>
            <a:ext cx="522287" cy="522287"/>
          </a:xfrm>
          <a:prstGeom prst="rect">
            <a:avLst/>
          </a:prstGeom>
        </p:spPr>
      </p:pic>
      <p:sp>
        <p:nvSpPr>
          <p:cNvPr id="2" name="Holder 2"/>
          <p:cNvSpPr>
            <a:spLocks noGrp="1"/>
          </p:cNvSpPr>
          <p:nvPr>
            <p:ph type="title"/>
          </p:nvPr>
        </p:nvSpPr>
        <p:spPr>
          <a:xfrm>
            <a:off x="899413" y="120777"/>
            <a:ext cx="7345172" cy="869061"/>
          </a:xfrm>
          <a:prstGeom prst="rect">
            <a:avLst/>
          </a:prstGeom>
        </p:spPr>
        <p:txBody>
          <a:bodyPr wrap="square" lIns="0" tIns="0" rIns="0" bIns="0">
            <a:spAutoFit/>
          </a:bodyPr>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a:xfrm>
            <a:off x="915416" y="1356969"/>
            <a:ext cx="7723505" cy="4599305"/>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pn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sv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04825"/>
            <a:ext cx="9144000" cy="993775"/>
          </a:xfrm>
          <a:prstGeom prst="rect">
            <a:avLst/>
          </a:prstGeom>
        </p:spPr>
      </p:pic>
      <p:pic>
        <p:nvPicPr>
          <p:cNvPr id="3" name="object 3"/>
          <p:cNvPicPr/>
          <p:nvPr/>
        </p:nvPicPr>
        <p:blipFill>
          <a:blip r:embed="rId3" cstate="print"/>
          <a:stretch>
            <a:fillRect/>
          </a:stretch>
        </p:blipFill>
        <p:spPr>
          <a:xfrm>
            <a:off x="0" y="5473700"/>
            <a:ext cx="9134475" cy="1384300"/>
          </a:xfrm>
          <a:prstGeom prst="rect">
            <a:avLst/>
          </a:prstGeom>
        </p:spPr>
      </p:pic>
      <p:grpSp>
        <p:nvGrpSpPr>
          <p:cNvPr id="4" name="object 4"/>
          <p:cNvGrpSpPr/>
          <p:nvPr/>
        </p:nvGrpSpPr>
        <p:grpSpPr>
          <a:xfrm>
            <a:off x="536575" y="68326"/>
            <a:ext cx="1720850" cy="1812925"/>
            <a:chOff x="536575" y="68326"/>
            <a:chExt cx="1720850" cy="1812925"/>
          </a:xfrm>
        </p:grpSpPr>
        <p:sp>
          <p:nvSpPr>
            <p:cNvPr id="5" name="object 5"/>
            <p:cNvSpPr/>
            <p:nvPr/>
          </p:nvSpPr>
          <p:spPr>
            <a:xfrm>
              <a:off x="536575" y="68326"/>
              <a:ext cx="1720850" cy="1812925"/>
            </a:xfrm>
            <a:custGeom>
              <a:avLst/>
              <a:gdLst/>
              <a:ahLst/>
              <a:cxnLst/>
              <a:rect l="l" t="t" r="r" b="b"/>
              <a:pathLst>
                <a:path w="1720850" h="1812925">
                  <a:moveTo>
                    <a:pt x="860425" y="0"/>
                  </a:moveTo>
                  <a:lnTo>
                    <a:pt x="813216" y="1341"/>
                  </a:lnTo>
                  <a:lnTo>
                    <a:pt x="766672" y="5318"/>
                  </a:lnTo>
                  <a:lnTo>
                    <a:pt x="720860" y="11862"/>
                  </a:lnTo>
                  <a:lnTo>
                    <a:pt x="675844" y="20903"/>
                  </a:lnTo>
                  <a:lnTo>
                    <a:pt x="631691" y="32374"/>
                  </a:lnTo>
                  <a:lnTo>
                    <a:pt x="588465" y="46204"/>
                  </a:lnTo>
                  <a:lnTo>
                    <a:pt x="546233" y="62325"/>
                  </a:lnTo>
                  <a:lnTo>
                    <a:pt x="505060" y="80667"/>
                  </a:lnTo>
                  <a:lnTo>
                    <a:pt x="465011" y="101162"/>
                  </a:lnTo>
                  <a:lnTo>
                    <a:pt x="426153" y="123740"/>
                  </a:lnTo>
                  <a:lnTo>
                    <a:pt x="388551" y="148332"/>
                  </a:lnTo>
                  <a:lnTo>
                    <a:pt x="352270" y="174869"/>
                  </a:lnTo>
                  <a:lnTo>
                    <a:pt x="317377" y="203283"/>
                  </a:lnTo>
                  <a:lnTo>
                    <a:pt x="283936" y="233503"/>
                  </a:lnTo>
                  <a:lnTo>
                    <a:pt x="252014" y="265461"/>
                  </a:lnTo>
                  <a:lnTo>
                    <a:pt x="221675" y="299088"/>
                  </a:lnTo>
                  <a:lnTo>
                    <a:pt x="192986" y="334315"/>
                  </a:lnTo>
                  <a:lnTo>
                    <a:pt x="166013" y="371072"/>
                  </a:lnTo>
                  <a:lnTo>
                    <a:pt x="140820" y="409291"/>
                  </a:lnTo>
                  <a:lnTo>
                    <a:pt x="117474" y="448902"/>
                  </a:lnTo>
                  <a:lnTo>
                    <a:pt x="96039" y="489837"/>
                  </a:lnTo>
                  <a:lnTo>
                    <a:pt x="76583" y="532026"/>
                  </a:lnTo>
                  <a:lnTo>
                    <a:pt x="59169" y="575400"/>
                  </a:lnTo>
                  <a:lnTo>
                    <a:pt x="43865" y="619890"/>
                  </a:lnTo>
                  <a:lnTo>
                    <a:pt x="30735" y="665427"/>
                  </a:lnTo>
                  <a:lnTo>
                    <a:pt x="19845" y="711942"/>
                  </a:lnTo>
                  <a:lnTo>
                    <a:pt x="11261" y="759365"/>
                  </a:lnTo>
                  <a:lnTo>
                    <a:pt x="5048" y="807629"/>
                  </a:lnTo>
                  <a:lnTo>
                    <a:pt x="1273" y="856663"/>
                  </a:lnTo>
                  <a:lnTo>
                    <a:pt x="0" y="906399"/>
                  </a:lnTo>
                  <a:lnTo>
                    <a:pt x="1273" y="956135"/>
                  </a:lnTo>
                  <a:lnTo>
                    <a:pt x="5048" y="1005170"/>
                  </a:lnTo>
                  <a:lnTo>
                    <a:pt x="11261" y="1053435"/>
                  </a:lnTo>
                  <a:lnTo>
                    <a:pt x="19845" y="1100862"/>
                  </a:lnTo>
                  <a:lnTo>
                    <a:pt x="30735" y="1147380"/>
                  </a:lnTo>
                  <a:lnTo>
                    <a:pt x="43865" y="1192921"/>
                  </a:lnTo>
                  <a:lnTo>
                    <a:pt x="59169" y="1237415"/>
                  </a:lnTo>
                  <a:lnTo>
                    <a:pt x="76583" y="1280794"/>
                  </a:lnTo>
                  <a:lnTo>
                    <a:pt x="96039" y="1322988"/>
                  </a:lnTo>
                  <a:lnTo>
                    <a:pt x="117474" y="1363928"/>
                  </a:lnTo>
                  <a:lnTo>
                    <a:pt x="140820" y="1403545"/>
                  </a:lnTo>
                  <a:lnTo>
                    <a:pt x="166013" y="1441770"/>
                  </a:lnTo>
                  <a:lnTo>
                    <a:pt x="192986" y="1478533"/>
                  </a:lnTo>
                  <a:lnTo>
                    <a:pt x="221675" y="1513766"/>
                  </a:lnTo>
                  <a:lnTo>
                    <a:pt x="252014" y="1547399"/>
                  </a:lnTo>
                  <a:lnTo>
                    <a:pt x="283936" y="1579364"/>
                  </a:lnTo>
                  <a:lnTo>
                    <a:pt x="317377" y="1609590"/>
                  </a:lnTo>
                  <a:lnTo>
                    <a:pt x="352270" y="1638010"/>
                  </a:lnTo>
                  <a:lnTo>
                    <a:pt x="388551" y="1664553"/>
                  </a:lnTo>
                  <a:lnTo>
                    <a:pt x="426153" y="1689151"/>
                  </a:lnTo>
                  <a:lnTo>
                    <a:pt x="465011" y="1711735"/>
                  </a:lnTo>
                  <a:lnTo>
                    <a:pt x="505060" y="1732235"/>
                  </a:lnTo>
                  <a:lnTo>
                    <a:pt x="546233" y="1750582"/>
                  </a:lnTo>
                  <a:lnTo>
                    <a:pt x="588465" y="1766707"/>
                  </a:lnTo>
                  <a:lnTo>
                    <a:pt x="631691" y="1780541"/>
                  </a:lnTo>
                  <a:lnTo>
                    <a:pt x="675844" y="1792014"/>
                  </a:lnTo>
                  <a:lnTo>
                    <a:pt x="720860" y="1801059"/>
                  </a:lnTo>
                  <a:lnTo>
                    <a:pt x="766672" y="1807605"/>
                  </a:lnTo>
                  <a:lnTo>
                    <a:pt x="813216" y="1811583"/>
                  </a:lnTo>
                  <a:lnTo>
                    <a:pt x="860425" y="1812925"/>
                  </a:lnTo>
                  <a:lnTo>
                    <a:pt x="907637" y="1811583"/>
                  </a:lnTo>
                  <a:lnTo>
                    <a:pt x="954183" y="1807605"/>
                  </a:lnTo>
                  <a:lnTo>
                    <a:pt x="999998" y="1801059"/>
                  </a:lnTo>
                  <a:lnTo>
                    <a:pt x="1045016" y="1792014"/>
                  </a:lnTo>
                  <a:lnTo>
                    <a:pt x="1089171" y="1780541"/>
                  </a:lnTo>
                  <a:lnTo>
                    <a:pt x="1132399" y="1766707"/>
                  </a:lnTo>
                  <a:lnTo>
                    <a:pt x="1174632" y="1750582"/>
                  </a:lnTo>
                  <a:lnTo>
                    <a:pt x="1215806" y="1732235"/>
                  </a:lnTo>
                  <a:lnTo>
                    <a:pt x="1255854" y="1711735"/>
                  </a:lnTo>
                  <a:lnTo>
                    <a:pt x="1294713" y="1689151"/>
                  </a:lnTo>
                  <a:lnTo>
                    <a:pt x="1332315" y="1664553"/>
                  </a:lnTo>
                  <a:lnTo>
                    <a:pt x="1368595" y="1638010"/>
                  </a:lnTo>
                  <a:lnTo>
                    <a:pt x="1403488" y="1609590"/>
                  </a:lnTo>
                  <a:lnTo>
                    <a:pt x="1436928" y="1579364"/>
                  </a:lnTo>
                  <a:lnTo>
                    <a:pt x="1468850" y="1547399"/>
                  </a:lnTo>
                  <a:lnTo>
                    <a:pt x="1499187" y="1513766"/>
                  </a:lnTo>
                  <a:lnTo>
                    <a:pt x="1527875" y="1478533"/>
                  </a:lnTo>
                  <a:lnTo>
                    <a:pt x="1554847" y="1441770"/>
                  </a:lnTo>
                  <a:lnTo>
                    <a:pt x="1580039" y="1403545"/>
                  </a:lnTo>
                  <a:lnTo>
                    <a:pt x="1603384" y="1363928"/>
                  </a:lnTo>
                  <a:lnTo>
                    <a:pt x="1624817" y="1322988"/>
                  </a:lnTo>
                  <a:lnTo>
                    <a:pt x="1644272" y="1280794"/>
                  </a:lnTo>
                  <a:lnTo>
                    <a:pt x="1661684" y="1237415"/>
                  </a:lnTo>
                  <a:lnTo>
                    <a:pt x="1676988" y="1192921"/>
                  </a:lnTo>
                  <a:lnTo>
                    <a:pt x="1690117" y="1147380"/>
                  </a:lnTo>
                  <a:lnTo>
                    <a:pt x="1701006" y="1100862"/>
                  </a:lnTo>
                  <a:lnTo>
                    <a:pt x="1709589" y="1053435"/>
                  </a:lnTo>
                  <a:lnTo>
                    <a:pt x="1715801" y="1005170"/>
                  </a:lnTo>
                  <a:lnTo>
                    <a:pt x="1719576" y="956135"/>
                  </a:lnTo>
                  <a:lnTo>
                    <a:pt x="1720850" y="906399"/>
                  </a:lnTo>
                  <a:lnTo>
                    <a:pt x="1719576" y="856663"/>
                  </a:lnTo>
                  <a:lnTo>
                    <a:pt x="1715801" y="807629"/>
                  </a:lnTo>
                  <a:lnTo>
                    <a:pt x="1709589" y="759365"/>
                  </a:lnTo>
                  <a:lnTo>
                    <a:pt x="1701006" y="711942"/>
                  </a:lnTo>
                  <a:lnTo>
                    <a:pt x="1690117" y="665427"/>
                  </a:lnTo>
                  <a:lnTo>
                    <a:pt x="1676988" y="619890"/>
                  </a:lnTo>
                  <a:lnTo>
                    <a:pt x="1661684" y="575400"/>
                  </a:lnTo>
                  <a:lnTo>
                    <a:pt x="1644272" y="532026"/>
                  </a:lnTo>
                  <a:lnTo>
                    <a:pt x="1624817" y="489837"/>
                  </a:lnTo>
                  <a:lnTo>
                    <a:pt x="1603384" y="448902"/>
                  </a:lnTo>
                  <a:lnTo>
                    <a:pt x="1580039" y="409291"/>
                  </a:lnTo>
                  <a:lnTo>
                    <a:pt x="1554847" y="371072"/>
                  </a:lnTo>
                  <a:lnTo>
                    <a:pt x="1527875" y="334315"/>
                  </a:lnTo>
                  <a:lnTo>
                    <a:pt x="1499187" y="299088"/>
                  </a:lnTo>
                  <a:lnTo>
                    <a:pt x="1468850" y="265461"/>
                  </a:lnTo>
                  <a:lnTo>
                    <a:pt x="1436928" y="233503"/>
                  </a:lnTo>
                  <a:lnTo>
                    <a:pt x="1403488" y="203283"/>
                  </a:lnTo>
                  <a:lnTo>
                    <a:pt x="1368595" y="174869"/>
                  </a:lnTo>
                  <a:lnTo>
                    <a:pt x="1332315" y="148332"/>
                  </a:lnTo>
                  <a:lnTo>
                    <a:pt x="1294713" y="123740"/>
                  </a:lnTo>
                  <a:lnTo>
                    <a:pt x="1255854" y="101162"/>
                  </a:lnTo>
                  <a:lnTo>
                    <a:pt x="1215806" y="80667"/>
                  </a:lnTo>
                  <a:lnTo>
                    <a:pt x="1174632" y="62325"/>
                  </a:lnTo>
                  <a:lnTo>
                    <a:pt x="1132399" y="46204"/>
                  </a:lnTo>
                  <a:lnTo>
                    <a:pt x="1089171" y="32374"/>
                  </a:lnTo>
                  <a:lnTo>
                    <a:pt x="1045016" y="20903"/>
                  </a:lnTo>
                  <a:lnTo>
                    <a:pt x="999998" y="11862"/>
                  </a:lnTo>
                  <a:lnTo>
                    <a:pt x="954183" y="5318"/>
                  </a:lnTo>
                  <a:lnTo>
                    <a:pt x="907637" y="1341"/>
                  </a:lnTo>
                  <a:lnTo>
                    <a:pt x="860425" y="0"/>
                  </a:lnTo>
                  <a:close/>
                </a:path>
              </a:pathLst>
            </a:custGeom>
            <a:solidFill>
              <a:srgbClr val="FFFFFF"/>
            </a:solidFill>
          </p:spPr>
          <p:txBody>
            <a:bodyPr wrap="square" lIns="0" tIns="0" rIns="0" bIns="0" rtlCol="0"/>
            <a:lstStyle/>
            <a:p>
              <a:endParaRPr/>
            </a:p>
          </p:txBody>
        </p:sp>
        <p:pic>
          <p:nvPicPr>
            <p:cNvPr id="6" name="object 6"/>
            <p:cNvPicPr/>
            <p:nvPr/>
          </p:nvPicPr>
          <p:blipFill>
            <a:blip r:embed="rId4" cstate="print"/>
            <a:stretch>
              <a:fillRect/>
            </a:stretch>
          </p:blipFill>
          <p:spPr>
            <a:xfrm>
              <a:off x="676275" y="284098"/>
              <a:ext cx="1417701" cy="1419225"/>
            </a:xfrm>
            <a:prstGeom prst="rect">
              <a:avLst/>
            </a:prstGeom>
          </p:spPr>
        </p:pic>
      </p:grpSp>
      <p:sp>
        <p:nvSpPr>
          <p:cNvPr id="7" name="object 7"/>
          <p:cNvSpPr txBox="1">
            <a:spLocks noGrp="1"/>
          </p:cNvSpPr>
          <p:nvPr>
            <p:ph type="title"/>
          </p:nvPr>
        </p:nvSpPr>
        <p:spPr>
          <a:prstGeom prst="rect">
            <a:avLst/>
          </a:prstGeom>
        </p:spPr>
        <p:txBody>
          <a:bodyPr vert="horz" wrap="square" lIns="0" tIns="490601" rIns="0" bIns="0" rtlCol="0">
            <a:spAutoFit/>
          </a:bodyPr>
          <a:lstStyle/>
          <a:p>
            <a:pPr marL="2611120">
              <a:lnSpc>
                <a:spcPct val="100000"/>
              </a:lnSpc>
              <a:spcBef>
                <a:spcPts val="100"/>
              </a:spcBef>
            </a:pPr>
            <a:r>
              <a:rPr sz="2400" dirty="0">
                <a:solidFill>
                  <a:srgbClr val="FFFF00"/>
                </a:solidFill>
              </a:rPr>
              <a:t>TRƯỜNG</a:t>
            </a:r>
            <a:r>
              <a:rPr sz="2400" spc="-40" dirty="0">
                <a:solidFill>
                  <a:srgbClr val="FFFF00"/>
                </a:solidFill>
              </a:rPr>
              <a:t> </a:t>
            </a:r>
            <a:r>
              <a:rPr sz="2400" dirty="0">
                <a:solidFill>
                  <a:srgbClr val="FFFF00"/>
                </a:solidFill>
              </a:rPr>
              <a:t>ĐẠI</a:t>
            </a:r>
            <a:r>
              <a:rPr sz="2400" spc="-40" dirty="0">
                <a:solidFill>
                  <a:srgbClr val="FFFF00"/>
                </a:solidFill>
              </a:rPr>
              <a:t> </a:t>
            </a:r>
            <a:r>
              <a:rPr sz="2400" dirty="0">
                <a:solidFill>
                  <a:srgbClr val="FFFF00"/>
                </a:solidFill>
              </a:rPr>
              <a:t>HỌC</a:t>
            </a:r>
            <a:r>
              <a:rPr sz="2400" spc="-100" dirty="0">
                <a:solidFill>
                  <a:srgbClr val="FFFF00"/>
                </a:solidFill>
              </a:rPr>
              <a:t> </a:t>
            </a:r>
            <a:r>
              <a:rPr sz="2400" dirty="0">
                <a:solidFill>
                  <a:srgbClr val="FFFF00"/>
                </a:solidFill>
              </a:rPr>
              <a:t>TRÀ</a:t>
            </a:r>
            <a:r>
              <a:rPr sz="2400" spc="-75" dirty="0">
                <a:solidFill>
                  <a:srgbClr val="FFFF00"/>
                </a:solidFill>
              </a:rPr>
              <a:t> </a:t>
            </a:r>
            <a:r>
              <a:rPr sz="2400" spc="-20" dirty="0">
                <a:solidFill>
                  <a:srgbClr val="FFFF00"/>
                </a:solidFill>
              </a:rPr>
              <a:t>VINH</a:t>
            </a:r>
            <a:endParaRPr sz="2400"/>
          </a:p>
        </p:txBody>
      </p:sp>
      <p:sp>
        <p:nvSpPr>
          <p:cNvPr id="8" name="object 8"/>
          <p:cNvSpPr txBox="1"/>
          <p:nvPr/>
        </p:nvSpPr>
        <p:spPr>
          <a:xfrm>
            <a:off x="690168" y="1800605"/>
            <a:ext cx="131826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Impact"/>
                <a:cs typeface="Impact"/>
              </a:rPr>
              <a:t>ISO</a:t>
            </a:r>
            <a:r>
              <a:rPr sz="1800" spc="-25" dirty="0">
                <a:solidFill>
                  <a:srgbClr val="FF0000"/>
                </a:solidFill>
                <a:latin typeface="Impact"/>
                <a:cs typeface="Impact"/>
              </a:rPr>
              <a:t> </a:t>
            </a:r>
            <a:r>
              <a:rPr sz="1800" spc="-10" dirty="0">
                <a:solidFill>
                  <a:srgbClr val="FF0000"/>
                </a:solidFill>
                <a:latin typeface="Impact"/>
                <a:cs typeface="Impact"/>
              </a:rPr>
              <a:t>9001:2015</a:t>
            </a:r>
            <a:endParaRPr sz="1800">
              <a:latin typeface="Impact"/>
              <a:cs typeface="Impact"/>
            </a:endParaRPr>
          </a:p>
        </p:txBody>
      </p:sp>
      <p:sp>
        <p:nvSpPr>
          <p:cNvPr id="9" name="object 9"/>
          <p:cNvSpPr txBox="1"/>
          <p:nvPr/>
        </p:nvSpPr>
        <p:spPr>
          <a:xfrm>
            <a:off x="2895600" y="1800605"/>
            <a:ext cx="5962953" cy="1490793"/>
          </a:xfrm>
          <a:prstGeom prst="rect">
            <a:avLst/>
          </a:prstGeom>
        </p:spPr>
        <p:txBody>
          <a:bodyPr vert="horz" wrap="square" lIns="0" tIns="13335" rIns="0" bIns="0" rtlCol="0">
            <a:spAutoFit/>
          </a:bodyPr>
          <a:lstStyle/>
          <a:p>
            <a:pPr algn="ctr"/>
            <a:r>
              <a:rPr lang="vi-VN" sz="2400" b="1" dirty="0">
                <a:solidFill>
                  <a:srgbClr val="FF0000"/>
                </a:solidFill>
                <a:latin typeface="Times New Roman" panose="02020603050405020304" pitchFamily="18" charset="0"/>
                <a:cs typeface="Times New Roman" panose="02020603050405020304" pitchFamily="18" charset="0"/>
              </a:rPr>
              <a:t>PHÁT HIỆN ẢNH Y KHOA BẤT THƯỜNG DỰA TRÊN ỨNG DỤNG MÔ HÌNH RESNET – 34 CẢI</a:t>
            </a:r>
          </a:p>
          <a:p>
            <a:pPr algn="ctr"/>
            <a:r>
              <a:rPr lang="vi-VN" sz="2400" b="1" dirty="0">
                <a:solidFill>
                  <a:srgbClr val="FF0000"/>
                </a:solidFill>
                <a:latin typeface="Times New Roman" panose="02020603050405020304" pitchFamily="18" charset="0"/>
                <a:cs typeface="Times New Roman" panose="02020603050405020304" pitchFamily="18" charset="0"/>
              </a:rPr>
              <a:t>TIẾN</a:t>
            </a:r>
          </a:p>
        </p:txBody>
      </p:sp>
      <p:sp>
        <p:nvSpPr>
          <p:cNvPr id="10" name="object 10"/>
          <p:cNvSpPr txBox="1"/>
          <p:nvPr/>
        </p:nvSpPr>
        <p:spPr>
          <a:xfrm>
            <a:off x="3104386" y="6180851"/>
            <a:ext cx="2925699" cy="350737"/>
          </a:xfrm>
          <a:prstGeom prst="rect">
            <a:avLst/>
          </a:prstGeom>
        </p:spPr>
        <p:txBody>
          <a:bodyPr vert="horz" wrap="square" lIns="0" tIns="12065" rIns="0" bIns="0" rtlCol="0">
            <a:spAutoFit/>
          </a:bodyPr>
          <a:lstStyle/>
          <a:p>
            <a:pPr marL="12700">
              <a:lnSpc>
                <a:spcPct val="100000"/>
              </a:lnSpc>
              <a:spcBef>
                <a:spcPts val="95"/>
              </a:spcBef>
            </a:pPr>
            <a:r>
              <a:rPr sz="2200" i="1" spc="-10" dirty="0">
                <a:solidFill>
                  <a:srgbClr val="17375E"/>
                </a:solidFill>
                <a:latin typeface="Times New Roman"/>
                <a:cs typeface="Times New Roman"/>
              </a:rPr>
              <a:t>Trà</a:t>
            </a:r>
            <a:r>
              <a:rPr sz="2200" i="1" spc="-100" dirty="0">
                <a:solidFill>
                  <a:srgbClr val="17375E"/>
                </a:solidFill>
                <a:latin typeface="Times New Roman"/>
                <a:cs typeface="Times New Roman"/>
              </a:rPr>
              <a:t> </a:t>
            </a:r>
            <a:r>
              <a:rPr sz="2200" i="1" spc="-20" dirty="0">
                <a:solidFill>
                  <a:srgbClr val="17375E"/>
                </a:solidFill>
                <a:latin typeface="Times New Roman"/>
                <a:cs typeface="Times New Roman"/>
              </a:rPr>
              <a:t>Vinh,</a:t>
            </a:r>
            <a:r>
              <a:rPr sz="2200" i="1" spc="-90" dirty="0">
                <a:solidFill>
                  <a:srgbClr val="17375E"/>
                </a:solidFill>
                <a:latin typeface="Times New Roman"/>
                <a:cs typeface="Times New Roman"/>
              </a:rPr>
              <a:t> </a:t>
            </a:r>
            <a:r>
              <a:rPr sz="2200" i="1" dirty="0" err="1">
                <a:solidFill>
                  <a:srgbClr val="17375E"/>
                </a:solidFill>
                <a:latin typeface="Times New Roman"/>
                <a:cs typeface="Times New Roman"/>
              </a:rPr>
              <a:t>tháng</a:t>
            </a:r>
            <a:r>
              <a:rPr sz="2200" i="1" spc="-90" dirty="0">
                <a:solidFill>
                  <a:srgbClr val="17375E"/>
                </a:solidFill>
                <a:latin typeface="Times New Roman"/>
                <a:cs typeface="Times New Roman"/>
              </a:rPr>
              <a:t> </a:t>
            </a:r>
            <a:r>
              <a:rPr lang="vi-VN" sz="2200" i="1" spc="-10" dirty="0">
                <a:solidFill>
                  <a:srgbClr val="17375E"/>
                </a:solidFill>
                <a:latin typeface="Times New Roman"/>
                <a:cs typeface="Times New Roman"/>
              </a:rPr>
              <a:t>12</a:t>
            </a:r>
            <a:r>
              <a:rPr sz="2200" i="1" spc="-10" dirty="0">
                <a:solidFill>
                  <a:srgbClr val="17375E"/>
                </a:solidFill>
                <a:latin typeface="Times New Roman"/>
                <a:cs typeface="Times New Roman"/>
              </a:rPr>
              <a:t>/</a:t>
            </a:r>
            <a:r>
              <a:rPr lang="vi-VN" sz="2200" i="1" spc="-10" dirty="0">
                <a:solidFill>
                  <a:srgbClr val="17375E"/>
                </a:solidFill>
                <a:latin typeface="Times New Roman"/>
                <a:cs typeface="Times New Roman"/>
              </a:rPr>
              <a:t>2025</a:t>
            </a:r>
            <a:endParaRPr sz="2200" dirty="0">
              <a:latin typeface="Times New Roman"/>
              <a:cs typeface="Times New Roman"/>
            </a:endParaRPr>
          </a:p>
        </p:txBody>
      </p:sp>
      <p:sp>
        <p:nvSpPr>
          <p:cNvPr id="11" name="Hộp Văn bản 10">
            <a:extLst>
              <a:ext uri="{FF2B5EF4-FFF2-40B4-BE49-F238E27FC236}">
                <a16:creationId xmlns:a16="http://schemas.microsoft.com/office/drawing/2014/main" id="{F3CEEC1D-5513-B033-B3E5-24F99D45E3C7}"/>
              </a:ext>
            </a:extLst>
          </p:cNvPr>
          <p:cNvSpPr txBox="1"/>
          <p:nvPr/>
        </p:nvSpPr>
        <p:spPr>
          <a:xfrm>
            <a:off x="263524" y="4054012"/>
            <a:ext cx="8607425" cy="1701107"/>
          </a:xfrm>
          <a:prstGeom prst="rect">
            <a:avLst/>
          </a:prstGeom>
          <a:noFill/>
        </p:spPr>
        <p:txBody>
          <a:bodyPr wrap="square" rtlCol="0">
            <a:spAutoFit/>
          </a:bodyPr>
          <a:lstStyle/>
          <a:p>
            <a:pPr lvl="0">
              <a:lnSpc>
                <a:spcPct val="107000"/>
              </a:lnSpc>
              <a:spcAft>
                <a:spcPts val="800"/>
              </a:spcAft>
              <a:buSzPts val="1000"/>
              <a:tabLst>
                <a:tab pos="457200" algn="l"/>
              </a:tabLst>
            </a:pPr>
            <a:r>
              <a:rPr lang="vi-VN" sz="2000" dirty="0">
                <a:latin typeface="+mj-lt"/>
              </a:rPr>
              <a:t>Giáo viên hướng dẫn: </a:t>
            </a:r>
            <a:r>
              <a:rPr lang="vi-VN" sz="2000" b="1" dirty="0">
                <a:latin typeface="+mj-lt"/>
              </a:rPr>
              <a:t>ThS. NGUYỄN MỘNG HIỀN</a:t>
            </a:r>
          </a:p>
          <a:p>
            <a:pPr lvl="0">
              <a:lnSpc>
                <a:spcPct val="107000"/>
              </a:lnSpc>
              <a:spcAft>
                <a:spcPts val="800"/>
              </a:spcAft>
              <a:buSzPts val="1000"/>
              <a:tabLst>
                <a:tab pos="457200" algn="l"/>
              </a:tabLst>
            </a:pPr>
            <a:r>
              <a:rPr lang="vi-VN" sz="2000" dirty="0">
                <a:latin typeface="+mj-lt"/>
              </a:rPr>
              <a:t>Sinh viên thực hiện: </a:t>
            </a:r>
            <a:r>
              <a:rPr lang="vi-VN" sz="2000" b="1" dirty="0">
                <a:latin typeface="+mj-lt"/>
              </a:rPr>
              <a:t>TRẦN NGỌC HÀNH </a:t>
            </a:r>
            <a:r>
              <a:rPr lang="vi-VN" sz="2000" dirty="0" err="1">
                <a:latin typeface="+mj-lt"/>
              </a:rPr>
              <a:t>Mssv</a:t>
            </a:r>
            <a:r>
              <a:rPr lang="vi-VN" sz="2000" dirty="0">
                <a:latin typeface="+mj-lt"/>
              </a:rPr>
              <a:t>: </a:t>
            </a:r>
            <a:r>
              <a:rPr lang="vi-VN" sz="2000" b="1" dirty="0">
                <a:latin typeface="+mj-lt"/>
              </a:rPr>
              <a:t>110122219</a:t>
            </a:r>
            <a:r>
              <a:rPr lang="vi-VN" sz="2000" dirty="0">
                <a:latin typeface="+mj-lt"/>
              </a:rPr>
              <a:t> </a:t>
            </a:r>
            <a:endParaRPr lang="en-US" sz="2000" dirty="0">
              <a:latin typeface="+mj-lt"/>
            </a:endParaRPr>
          </a:p>
          <a:p>
            <a:pPr lvl="0">
              <a:lnSpc>
                <a:spcPct val="107000"/>
              </a:lnSpc>
              <a:spcAft>
                <a:spcPts val="800"/>
              </a:spcAft>
              <a:buSzPts val="1000"/>
              <a:tabLst>
                <a:tab pos="457200" algn="l"/>
              </a:tabLst>
            </a:pPr>
            <a:r>
              <a:rPr lang="vi-VN" sz="2000" dirty="0">
                <a:latin typeface="+mj-lt"/>
              </a:rPr>
              <a:t>Lớp: </a:t>
            </a:r>
            <a:r>
              <a:rPr lang="vi-VN" sz="2000" b="1" dirty="0">
                <a:latin typeface="+mj-lt"/>
              </a:rPr>
              <a:t>DA22TTA </a:t>
            </a:r>
            <a:endParaRPr lang="en-US" sz="2000" b="1" dirty="0">
              <a:latin typeface="+mj-lt"/>
            </a:endParaRPr>
          </a:p>
          <a:p>
            <a:pPr lvl="0">
              <a:lnSpc>
                <a:spcPct val="107000"/>
              </a:lnSpc>
              <a:spcAft>
                <a:spcPts val="800"/>
              </a:spcAft>
              <a:buSzPts val="1000"/>
              <a:tabLst>
                <a:tab pos="457200" algn="l"/>
              </a:tabLst>
            </a:pPr>
            <a:r>
              <a:rPr lang="vi-VN" sz="2000" dirty="0">
                <a:latin typeface="+mj-lt"/>
              </a:rPr>
              <a:t>Khóa: </a:t>
            </a:r>
            <a:r>
              <a:rPr lang="vi-VN" sz="2000" b="1" dirty="0">
                <a:latin typeface="+mj-lt"/>
              </a:rPr>
              <a:t>2022 – 2026</a:t>
            </a:r>
            <a:endParaRPr lang="en-US" sz="2000" b="1" dirty="0">
              <a:latin typeface="+mj-lt"/>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ộp Văn bản 1">
            <a:extLst>
              <a:ext uri="{FF2B5EF4-FFF2-40B4-BE49-F238E27FC236}">
                <a16:creationId xmlns:a16="http://schemas.microsoft.com/office/drawing/2014/main" id="{E86DD55B-1138-530B-EC68-163E640754EA}"/>
              </a:ext>
            </a:extLst>
          </p:cNvPr>
          <p:cNvSpPr txBox="1"/>
          <p:nvPr/>
        </p:nvSpPr>
        <p:spPr>
          <a:xfrm>
            <a:off x="762000" y="235527"/>
            <a:ext cx="3810000" cy="461665"/>
          </a:xfrm>
          <a:prstGeom prst="rect">
            <a:avLst/>
          </a:prstGeom>
          <a:noFill/>
        </p:spPr>
        <p:txBody>
          <a:bodyPr wrap="square" rtlCol="0">
            <a:spAutoFit/>
          </a:bodyPr>
          <a:lstStyle/>
          <a:p>
            <a:r>
              <a:rPr lang="vi-VN" sz="2400" b="1" dirty="0">
                <a:solidFill>
                  <a:srgbClr val="FF0000"/>
                </a:solidFill>
                <a:latin typeface="+mj-lt"/>
              </a:rPr>
              <a:t>LÝ DO CHỌN ĐỀ TÀI</a:t>
            </a:r>
            <a:endParaRPr lang="en-US" sz="2400" b="1" dirty="0">
              <a:solidFill>
                <a:srgbClr val="FF0000"/>
              </a:solidFill>
              <a:latin typeface="+mj-lt"/>
            </a:endParaRPr>
          </a:p>
        </p:txBody>
      </p:sp>
      <p:sp>
        <p:nvSpPr>
          <p:cNvPr id="5" name="Hộp Văn bản 4">
            <a:extLst>
              <a:ext uri="{FF2B5EF4-FFF2-40B4-BE49-F238E27FC236}">
                <a16:creationId xmlns:a16="http://schemas.microsoft.com/office/drawing/2014/main" id="{DF90A48A-4BD7-84B3-E211-8EE88AC78033}"/>
              </a:ext>
            </a:extLst>
          </p:cNvPr>
          <p:cNvSpPr txBox="1"/>
          <p:nvPr/>
        </p:nvSpPr>
        <p:spPr>
          <a:xfrm>
            <a:off x="381000" y="1085538"/>
            <a:ext cx="5486400" cy="5576976"/>
          </a:xfrm>
          <a:prstGeom prst="rect">
            <a:avLst/>
          </a:prstGeom>
          <a:noFill/>
        </p:spPr>
        <p:txBody>
          <a:bodyPr wrap="square" rtlCol="0">
            <a:spAutoFit/>
          </a:bodyPr>
          <a:lstStyle/>
          <a:p>
            <a:pPr indent="457200" algn="just">
              <a:lnSpc>
                <a:spcPct val="150000"/>
              </a:lnSpc>
            </a:pPr>
            <a:r>
              <a:rPr lang="vi-VN" sz="2000" dirty="0">
                <a:latin typeface="Times New Roman" panose="02020603050405020304" pitchFamily="18" charset="0"/>
                <a:cs typeface="Times New Roman" panose="02020603050405020304" pitchFamily="18" charset="0"/>
              </a:rPr>
              <a:t>- Viêm phổi là bệnh hô hấp phổ biến và nguy hiểm. Chẩn đoán qua ảnh X-ray phổi đòi hỏi kinh nghiệm và tốn thời gian, trong khi số lượng bệnh nhân ngày càng tăng. Nhu cầu ứng dụng trí tuệ nhân tạo (AI) để hỗ trợ chẩn đoán nhanh và chính xác là rất cần thiết.</a:t>
            </a:r>
          </a:p>
          <a:p>
            <a:pPr indent="457200" algn="just">
              <a:lnSpc>
                <a:spcPct val="150000"/>
              </a:lnSpc>
            </a:pPr>
            <a:r>
              <a:rPr lang="vi-VN" sz="2000" dirty="0">
                <a:latin typeface="Times New Roman" panose="02020603050405020304" pitchFamily="18" charset="0"/>
                <a:cs typeface="Times New Roman" panose="02020603050405020304" pitchFamily="18" charset="0"/>
              </a:rPr>
              <a:t>- Kiến trúc ResNet-34 với cơ chế </a:t>
            </a:r>
            <a:r>
              <a:rPr lang="vi-VN" sz="2000" dirty="0" err="1">
                <a:latin typeface="Times New Roman" panose="02020603050405020304" pitchFamily="18" charset="0"/>
                <a:cs typeface="Times New Roman" panose="02020603050405020304" pitchFamily="18" charset="0"/>
              </a:rPr>
              <a:t>residual</a:t>
            </a:r>
            <a:r>
              <a:rPr lang="vi-VN" sz="2000" dirty="0">
                <a:latin typeface="Times New Roman" panose="02020603050405020304" pitchFamily="18" charset="0"/>
                <a:cs typeface="Times New Roman" panose="02020603050405020304" pitchFamily="18" charset="0"/>
              </a:rPr>
              <a:t> </a:t>
            </a:r>
            <a:r>
              <a:rPr lang="vi-VN" sz="2000" dirty="0" err="1">
                <a:latin typeface="Times New Roman" panose="02020603050405020304" pitchFamily="18" charset="0"/>
                <a:cs typeface="Times New Roman" panose="02020603050405020304" pitchFamily="18" charset="0"/>
              </a:rPr>
              <a:t>connection</a:t>
            </a:r>
            <a:r>
              <a:rPr lang="vi-VN" sz="2000" dirty="0">
                <a:latin typeface="Times New Roman" panose="02020603050405020304" pitchFamily="18" charset="0"/>
                <a:cs typeface="Times New Roman" panose="02020603050405020304" pitchFamily="18" charset="0"/>
              </a:rPr>
              <a:t> đã chứng minh hiệu quả cao trong phân loại ảnh phức tạp. Đề tài này nhằm nghiên cứu và triển khai mô hình học sâu hỗ trợ phát hiện viêm phổi, giúp sinh viên tiếp cận quy trình xây dựng hệ thống AI trong y tế.</a:t>
            </a:r>
            <a:endParaRPr lang="en-US" sz="20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B6E957A4-F608-BD0A-39C7-E742AF7E83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94764" y="2590800"/>
            <a:ext cx="21336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231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163DD1C-D13D-9E2F-B5DA-B19464735CC1}"/>
              </a:ext>
            </a:extLst>
          </p:cNvPr>
          <p:cNvSpPr>
            <a:spLocks noGrp="1"/>
          </p:cNvSpPr>
          <p:nvPr>
            <p:ph type="title"/>
          </p:nvPr>
        </p:nvSpPr>
        <p:spPr>
          <a:xfrm>
            <a:off x="762000" y="304800"/>
            <a:ext cx="7345172" cy="369332"/>
          </a:xfrm>
        </p:spPr>
        <p:txBody>
          <a:bodyPr/>
          <a:lstStyle/>
          <a:p>
            <a:r>
              <a:rPr lang="vi-VN" sz="2400" dirty="0"/>
              <a:t>MÔ TẢ ĐỀ </a:t>
            </a:r>
            <a:r>
              <a:rPr lang="vi-VN" sz="2400"/>
              <a:t>TÀI &amp; </a:t>
            </a:r>
            <a:r>
              <a:rPr lang="vi-VN" sz="2400" dirty="0"/>
              <a:t>NGHIỆP VỤ </a:t>
            </a:r>
            <a:endParaRPr lang="en-US" sz="2400" dirty="0"/>
          </a:p>
        </p:txBody>
      </p:sp>
      <p:sp>
        <p:nvSpPr>
          <p:cNvPr id="4" name="Hộp Văn bản 3">
            <a:extLst>
              <a:ext uri="{FF2B5EF4-FFF2-40B4-BE49-F238E27FC236}">
                <a16:creationId xmlns:a16="http://schemas.microsoft.com/office/drawing/2014/main" id="{F922BAB0-3EF1-33A0-B387-37DD170618FC}"/>
              </a:ext>
            </a:extLst>
          </p:cNvPr>
          <p:cNvSpPr txBox="1"/>
          <p:nvPr/>
        </p:nvSpPr>
        <p:spPr>
          <a:xfrm>
            <a:off x="304800" y="1447800"/>
            <a:ext cx="5181600" cy="4202882"/>
          </a:xfrm>
          <a:prstGeom prst="rect">
            <a:avLst/>
          </a:prstGeom>
          <a:noFill/>
        </p:spPr>
        <p:txBody>
          <a:bodyPr wrap="square" rtlCol="0">
            <a:spAutoFit/>
          </a:bodyPr>
          <a:lstStyle/>
          <a:p>
            <a:pPr indent="457200" algn="l">
              <a:lnSpc>
                <a:spcPct val="150000"/>
              </a:lnSpc>
            </a:pPr>
            <a:r>
              <a:rPr lang="vi-VN" b="1" dirty="0">
                <a:latin typeface="+mj-lt"/>
              </a:rPr>
              <a:t>MÔ TẢ ĐỀ TÀI</a:t>
            </a:r>
          </a:p>
          <a:p>
            <a:pPr indent="457200">
              <a:lnSpc>
                <a:spcPct val="150000"/>
              </a:lnSpc>
            </a:pPr>
            <a:r>
              <a:rPr lang="vi-VN" dirty="0">
                <a:latin typeface="+mj-lt"/>
              </a:rPr>
              <a:t>Đề tài xây dựng hệ thống phân loại ảnh X-ray phổi thành hai nhóm: NORMAL (bình thường) và PNEUMONIA (viêm phổi) bằng học sâu.</a:t>
            </a:r>
          </a:p>
          <a:p>
            <a:pPr marL="285750" lvl="2" indent="-285750">
              <a:lnSpc>
                <a:spcPct val="150000"/>
              </a:lnSpc>
              <a:buFont typeface="Wingdings" panose="05000000000000000000" pitchFamily="2" charset="2"/>
              <a:buChar char="§"/>
            </a:pPr>
            <a:r>
              <a:rPr lang="vi-VN" dirty="0">
                <a:latin typeface="+mj-lt"/>
              </a:rPr>
              <a:t>Bộ dữ liệu: </a:t>
            </a:r>
            <a:r>
              <a:rPr lang="vi-VN" dirty="0" err="1">
                <a:latin typeface="+mj-lt"/>
              </a:rPr>
              <a:t>Chest</a:t>
            </a:r>
            <a:r>
              <a:rPr lang="vi-VN" dirty="0">
                <a:latin typeface="+mj-lt"/>
              </a:rPr>
              <a:t> X-Ray </a:t>
            </a:r>
            <a:r>
              <a:rPr lang="vi-VN" dirty="0" err="1">
                <a:latin typeface="+mj-lt"/>
              </a:rPr>
              <a:t>Images</a:t>
            </a:r>
            <a:r>
              <a:rPr lang="vi-VN" dirty="0">
                <a:latin typeface="+mj-lt"/>
              </a:rPr>
              <a:t> (</a:t>
            </a:r>
            <a:r>
              <a:rPr lang="vi-VN" dirty="0" err="1">
                <a:latin typeface="+mj-lt"/>
              </a:rPr>
              <a:t>Pneumonia</a:t>
            </a:r>
            <a:r>
              <a:rPr lang="vi-VN" dirty="0">
                <a:latin typeface="+mj-lt"/>
              </a:rPr>
              <a:t>) từ </a:t>
            </a:r>
            <a:r>
              <a:rPr lang="vi-VN" dirty="0" err="1">
                <a:latin typeface="+mj-lt"/>
              </a:rPr>
              <a:t>Kaggle</a:t>
            </a:r>
            <a:r>
              <a:rPr lang="vi-VN" dirty="0">
                <a:latin typeface="+mj-lt"/>
              </a:rPr>
              <a:t>.</a:t>
            </a:r>
          </a:p>
          <a:p>
            <a:pPr marL="285750" lvl="2" indent="-285750">
              <a:lnSpc>
                <a:spcPct val="150000"/>
              </a:lnSpc>
              <a:buFont typeface="Wingdings" panose="05000000000000000000" pitchFamily="2" charset="2"/>
              <a:buChar char="§"/>
            </a:pPr>
            <a:r>
              <a:rPr lang="vi-VN" dirty="0">
                <a:latin typeface="+mj-lt"/>
              </a:rPr>
              <a:t>Mô hình: ResNet-34 </a:t>
            </a:r>
            <a:r>
              <a:rPr lang="vi-VN" dirty="0" err="1">
                <a:latin typeface="+mj-lt"/>
              </a:rPr>
              <a:t>pretrained</a:t>
            </a:r>
            <a:r>
              <a:rPr lang="vi-VN" dirty="0">
                <a:latin typeface="+mj-lt"/>
              </a:rPr>
              <a:t> với trọng số resnet34-b627a593.pth.</a:t>
            </a:r>
          </a:p>
          <a:p>
            <a:pPr marL="285750" lvl="2" indent="-285750">
              <a:lnSpc>
                <a:spcPct val="150000"/>
              </a:lnSpc>
              <a:buFont typeface="Wingdings" panose="05000000000000000000" pitchFamily="2" charset="2"/>
              <a:buChar char="§"/>
            </a:pPr>
            <a:r>
              <a:rPr lang="vi-VN" dirty="0">
                <a:latin typeface="+mj-lt"/>
              </a:rPr>
              <a:t>Phương pháp: </a:t>
            </a:r>
            <a:r>
              <a:rPr lang="vi-VN" dirty="0" err="1">
                <a:latin typeface="+mj-lt"/>
              </a:rPr>
              <a:t>Transfer</a:t>
            </a:r>
            <a:r>
              <a:rPr lang="vi-VN" dirty="0">
                <a:latin typeface="+mj-lt"/>
              </a:rPr>
              <a:t> </a:t>
            </a:r>
            <a:r>
              <a:rPr lang="vi-VN" dirty="0" err="1">
                <a:latin typeface="+mj-lt"/>
              </a:rPr>
              <a:t>Learning</a:t>
            </a:r>
            <a:r>
              <a:rPr lang="vi-VN" dirty="0">
                <a:latin typeface="+mj-lt"/>
              </a:rPr>
              <a:t> để rút ngắn thời gian huấn luyện và nâng cao độ chính xác.</a:t>
            </a:r>
            <a:endParaRPr lang="en-US" dirty="0">
              <a:latin typeface="+mj-lt"/>
            </a:endParaRPr>
          </a:p>
        </p:txBody>
      </p:sp>
      <p:pic>
        <p:nvPicPr>
          <p:cNvPr id="5" name="Picture 2">
            <a:extLst>
              <a:ext uri="{FF2B5EF4-FFF2-40B4-BE49-F238E27FC236}">
                <a16:creationId xmlns:a16="http://schemas.microsoft.com/office/drawing/2014/main" id="{E9BAB809-BE88-BB80-C9EC-992096CE4A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1752600"/>
            <a:ext cx="2133600" cy="2133600"/>
          </a:xfrm>
          <a:prstGeom prst="rect">
            <a:avLst/>
          </a:prstGeom>
          <a:noFill/>
          <a:extLst>
            <a:ext uri="{909E8E84-426E-40DD-AFC4-6F175D3DCCD1}">
              <a14:hiddenFill xmlns:a14="http://schemas.microsoft.com/office/drawing/2010/main">
                <a:solidFill>
                  <a:srgbClr val="FFFFFF"/>
                </a:solidFill>
              </a14:hiddenFill>
            </a:ext>
          </a:extLst>
        </p:spPr>
      </p:pic>
      <p:sp>
        <p:nvSpPr>
          <p:cNvPr id="6" name="Hộp Văn bản 5">
            <a:extLst>
              <a:ext uri="{FF2B5EF4-FFF2-40B4-BE49-F238E27FC236}">
                <a16:creationId xmlns:a16="http://schemas.microsoft.com/office/drawing/2014/main" id="{0454F5AC-DF88-304A-23AC-1ED0A99C6ED6}"/>
              </a:ext>
            </a:extLst>
          </p:cNvPr>
          <p:cNvSpPr txBox="1"/>
          <p:nvPr/>
        </p:nvSpPr>
        <p:spPr>
          <a:xfrm>
            <a:off x="5562600" y="3974791"/>
            <a:ext cx="3581400" cy="3116238"/>
          </a:xfrm>
          <a:prstGeom prst="rect">
            <a:avLst/>
          </a:prstGeom>
          <a:noFill/>
        </p:spPr>
        <p:txBody>
          <a:bodyPr wrap="square" rtlCol="0">
            <a:spAutoFit/>
          </a:bodyPr>
          <a:lstStyle/>
          <a:p>
            <a:pPr>
              <a:lnSpc>
                <a:spcPct val="150000"/>
              </a:lnSpc>
            </a:pPr>
            <a:r>
              <a:rPr lang="vi-VN" sz="1700" b="1" dirty="0">
                <a:latin typeface="+mj-lt"/>
              </a:rPr>
              <a:t>NGHIỆP VỤ </a:t>
            </a:r>
          </a:p>
          <a:p>
            <a:pPr marL="285750" indent="-285750">
              <a:lnSpc>
                <a:spcPct val="150000"/>
              </a:lnSpc>
              <a:buFont typeface="Wingdings" panose="05000000000000000000" pitchFamily="2" charset="2"/>
              <a:buChar char="§"/>
            </a:pPr>
            <a:r>
              <a:rPr lang="vi-VN" sz="1700" dirty="0">
                <a:latin typeface="+mj-lt"/>
              </a:rPr>
              <a:t>Sử dụng bộ dữ liệu </a:t>
            </a:r>
            <a:r>
              <a:rPr lang="vi-VN" sz="1700" dirty="0" err="1">
                <a:latin typeface="+mj-lt"/>
              </a:rPr>
              <a:t>Kaggle</a:t>
            </a:r>
            <a:r>
              <a:rPr lang="vi-VN" sz="1700" dirty="0">
                <a:latin typeface="+mj-lt"/>
              </a:rPr>
              <a:t> đã được tiền xử lý.</a:t>
            </a:r>
          </a:p>
          <a:p>
            <a:pPr marL="285750" indent="-285750">
              <a:lnSpc>
                <a:spcPct val="150000"/>
              </a:lnSpc>
              <a:buFont typeface="Wingdings" panose="05000000000000000000" pitchFamily="2" charset="2"/>
              <a:buChar char="§"/>
            </a:pPr>
            <a:r>
              <a:rPr lang="vi-VN" sz="1700" dirty="0">
                <a:latin typeface="+mj-lt"/>
              </a:rPr>
              <a:t>Áp dụng mô hình ResNet-34 với trọng số </a:t>
            </a:r>
            <a:r>
              <a:rPr lang="vi-VN" sz="1700" dirty="0" err="1">
                <a:latin typeface="+mj-lt"/>
              </a:rPr>
              <a:t>pretrained</a:t>
            </a:r>
            <a:r>
              <a:rPr lang="vi-VN" sz="1700" dirty="0">
                <a:latin typeface="+mj-lt"/>
              </a:rPr>
              <a:t>.</a:t>
            </a:r>
          </a:p>
          <a:p>
            <a:pPr marL="285750" indent="-285750">
              <a:lnSpc>
                <a:spcPct val="150000"/>
              </a:lnSpc>
              <a:buFont typeface="Wingdings" panose="05000000000000000000" pitchFamily="2" charset="2"/>
              <a:buChar char="§"/>
            </a:pPr>
            <a:r>
              <a:rPr lang="vi-VN" sz="1700" dirty="0">
                <a:latin typeface="+mj-lt"/>
              </a:rPr>
              <a:t>Đánh giá bằng </a:t>
            </a:r>
            <a:r>
              <a:rPr lang="vi-VN" sz="1700" dirty="0" err="1">
                <a:latin typeface="+mj-lt"/>
              </a:rPr>
              <a:t>Accuracy</a:t>
            </a:r>
            <a:r>
              <a:rPr lang="vi-VN" sz="1700" dirty="0">
                <a:latin typeface="+mj-lt"/>
              </a:rPr>
              <a:t>, </a:t>
            </a:r>
            <a:r>
              <a:rPr lang="vi-VN" sz="1700" dirty="0" err="1">
                <a:latin typeface="+mj-lt"/>
              </a:rPr>
              <a:t>Loss</a:t>
            </a:r>
            <a:r>
              <a:rPr lang="vi-VN" sz="1700" dirty="0">
                <a:latin typeface="+mj-lt"/>
              </a:rPr>
              <a:t> và </a:t>
            </a:r>
            <a:r>
              <a:rPr lang="vi-VN" sz="1700" dirty="0" err="1">
                <a:latin typeface="+mj-lt"/>
              </a:rPr>
              <a:t>Confusion</a:t>
            </a:r>
            <a:r>
              <a:rPr lang="vi-VN" sz="1700" dirty="0">
                <a:latin typeface="+mj-lt"/>
              </a:rPr>
              <a:t> </a:t>
            </a:r>
            <a:r>
              <a:rPr lang="vi-VN" sz="1700" dirty="0" err="1">
                <a:latin typeface="+mj-lt"/>
              </a:rPr>
              <a:t>Matrix</a:t>
            </a:r>
            <a:r>
              <a:rPr lang="vi-VN" sz="1700" dirty="0">
                <a:latin typeface="+mj-lt"/>
              </a:rPr>
              <a:t>.</a:t>
            </a:r>
          </a:p>
          <a:p>
            <a:endParaRPr lang="en-US" dirty="0"/>
          </a:p>
        </p:txBody>
      </p:sp>
    </p:spTree>
    <p:extLst>
      <p:ext uri="{BB962C8B-B14F-4D97-AF65-F5344CB8AC3E}">
        <p14:creationId xmlns:p14="http://schemas.microsoft.com/office/powerpoint/2010/main" val="418720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163DD1C-D13D-9E2F-B5DA-B19464735CC1}"/>
              </a:ext>
            </a:extLst>
          </p:cNvPr>
          <p:cNvSpPr>
            <a:spLocks noGrp="1"/>
          </p:cNvSpPr>
          <p:nvPr>
            <p:ph type="title"/>
          </p:nvPr>
        </p:nvSpPr>
        <p:spPr>
          <a:xfrm>
            <a:off x="762000" y="304800"/>
            <a:ext cx="7345172" cy="307777"/>
          </a:xfrm>
        </p:spPr>
        <p:txBody>
          <a:bodyPr/>
          <a:lstStyle/>
          <a:p>
            <a:r>
              <a:rPr lang="en-US" sz="2000" b="1" dirty="0"/>
              <a:t>TỔNG QUAN VỀ BÀI TOÁN PHÂN LOẠI ẢNH X-RAY PHỔI</a:t>
            </a:r>
          </a:p>
        </p:txBody>
      </p:sp>
      <p:sp>
        <p:nvSpPr>
          <p:cNvPr id="6" name="Hình chữ nhật 5">
            <a:extLst>
              <a:ext uri="{FF2B5EF4-FFF2-40B4-BE49-F238E27FC236}">
                <a16:creationId xmlns:a16="http://schemas.microsoft.com/office/drawing/2014/main" id="{AF938F10-FD14-B386-61A8-3F038298C7DD}"/>
              </a:ext>
            </a:extLst>
          </p:cNvPr>
          <p:cNvSpPr/>
          <p:nvPr/>
        </p:nvSpPr>
        <p:spPr>
          <a:xfrm>
            <a:off x="152400" y="1397675"/>
            <a:ext cx="3934691" cy="2209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latin typeface="+mj-lt"/>
              </a:rPr>
              <a:t>Chẩn đoán hình ảnh (</a:t>
            </a:r>
            <a:r>
              <a:rPr lang="vi-VN" dirty="0" err="1">
                <a:latin typeface="+mj-lt"/>
              </a:rPr>
              <a:t>Medical</a:t>
            </a:r>
            <a:r>
              <a:rPr lang="vi-VN" dirty="0">
                <a:latin typeface="+mj-lt"/>
              </a:rPr>
              <a:t> </a:t>
            </a:r>
            <a:r>
              <a:rPr lang="vi-VN" dirty="0" err="1">
                <a:latin typeface="+mj-lt"/>
              </a:rPr>
              <a:t>Imaging</a:t>
            </a:r>
            <a:r>
              <a:rPr lang="vi-VN" dirty="0">
                <a:latin typeface="+mj-lt"/>
              </a:rPr>
              <a:t>) là lĩnh vực quan trọng, cho phép quan sát cấu trúc bên trong cơ thể. Ảnh X-ray phổi là kỹ thuật phổ biến nhất để chẩn đoán các bệnh lý hô hấp như viêm phổi, lao phổi, do chi phí thấp và thời gian chụp nhanh.</a:t>
            </a:r>
          </a:p>
        </p:txBody>
      </p:sp>
      <p:sp>
        <p:nvSpPr>
          <p:cNvPr id="7" name="Hình chữ nhật 6">
            <a:extLst>
              <a:ext uri="{FF2B5EF4-FFF2-40B4-BE49-F238E27FC236}">
                <a16:creationId xmlns:a16="http://schemas.microsoft.com/office/drawing/2014/main" id="{01546FCA-E18C-8B1B-2144-8A5AF2B1D0B4}"/>
              </a:ext>
            </a:extLst>
          </p:cNvPr>
          <p:cNvSpPr/>
          <p:nvPr/>
        </p:nvSpPr>
        <p:spPr>
          <a:xfrm>
            <a:off x="2362199" y="4267200"/>
            <a:ext cx="4648200" cy="1981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vi-VN" dirty="0">
                <a:latin typeface="Times New Roman" panose="02020603050405020304" pitchFamily="18" charset="0"/>
                <a:cs typeface="Times New Roman" panose="02020603050405020304" pitchFamily="18" charset="0"/>
              </a:rPr>
              <a:t>Viêm phổi biểu hiện trên ảnh X-ray qua các vùng mờ bất thường, giảm độ trong suốt hoặc xuất hiện đám đông đặc. Việc nhận diện chính xác các đặc trưng này rất quan trọng. Tuy nhiên, chất lượng ảnh thấp, nhiễu cao và sự chồng lấp cấu trúc giải phẫu gây khó khăn cho bác sĩ.</a:t>
            </a:r>
          </a:p>
        </p:txBody>
      </p:sp>
      <p:cxnSp>
        <p:nvCxnSpPr>
          <p:cNvPr id="12" name="Đường kết nối Mũi tên Thẳng 11">
            <a:extLst>
              <a:ext uri="{FF2B5EF4-FFF2-40B4-BE49-F238E27FC236}">
                <a16:creationId xmlns:a16="http://schemas.microsoft.com/office/drawing/2014/main" id="{D1B2322C-D08A-CC6D-A590-9CE62D074509}"/>
              </a:ext>
            </a:extLst>
          </p:cNvPr>
          <p:cNvCxnSpPr>
            <a:cxnSpLocks/>
            <a:stCxn id="6" idx="2"/>
            <a:endCxn id="7" idx="0"/>
          </p:cNvCxnSpPr>
          <p:nvPr/>
        </p:nvCxnSpPr>
        <p:spPr>
          <a:xfrm>
            <a:off x="2119746" y="3607475"/>
            <a:ext cx="2566553" cy="6597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Hình chữ nhật 15">
            <a:extLst>
              <a:ext uri="{FF2B5EF4-FFF2-40B4-BE49-F238E27FC236}">
                <a16:creationId xmlns:a16="http://schemas.microsoft.com/office/drawing/2014/main" id="{99CA0345-7280-1771-A295-A22DFED3CA24}"/>
              </a:ext>
            </a:extLst>
          </p:cNvPr>
          <p:cNvSpPr/>
          <p:nvPr/>
        </p:nvSpPr>
        <p:spPr>
          <a:xfrm>
            <a:off x="5043054" y="1383820"/>
            <a:ext cx="3934691" cy="22236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vi-VN" dirty="0">
                <a:latin typeface="Times New Roman" panose="02020603050405020304" pitchFamily="18" charset="0"/>
                <a:cs typeface="Times New Roman" panose="02020603050405020304" pitchFamily="18" charset="0"/>
              </a:rPr>
              <a:t>Học sâu (</a:t>
            </a:r>
            <a:r>
              <a:rPr lang="vi-VN" dirty="0" err="1">
                <a:latin typeface="Times New Roman" panose="02020603050405020304" pitchFamily="18" charset="0"/>
                <a:cs typeface="Times New Roman" panose="02020603050405020304" pitchFamily="18" charset="0"/>
              </a:rPr>
              <a:t>Deep</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Learning</a:t>
            </a:r>
            <a:r>
              <a:rPr lang="vi-VN" dirty="0">
                <a:latin typeface="Times New Roman" panose="02020603050405020304" pitchFamily="18" charset="0"/>
                <a:cs typeface="Times New Roman" panose="02020603050405020304" pitchFamily="18" charset="0"/>
              </a:rPr>
              <a:t>), đặc biệt là Mạng Nơ-</a:t>
            </a:r>
            <a:r>
              <a:rPr lang="vi-VN" dirty="0" err="1">
                <a:latin typeface="Times New Roman" panose="02020603050405020304" pitchFamily="18" charset="0"/>
                <a:cs typeface="Times New Roman" panose="02020603050405020304" pitchFamily="18" charset="0"/>
              </a:rPr>
              <a:t>ron</a:t>
            </a:r>
            <a:r>
              <a:rPr lang="vi-VN" dirty="0">
                <a:latin typeface="Times New Roman" panose="02020603050405020304" pitchFamily="18" charset="0"/>
                <a:cs typeface="Times New Roman" panose="02020603050405020304" pitchFamily="18" charset="0"/>
              </a:rPr>
              <a:t> Tích chập (CNN), cho phép tự động trích xuất đặc trưng từ ảnh X-ray. Các mô hình như ResNet-34 có tiềm năng cải thiện độ chính xác chẩn đoán, giảm thời gian xử lý và hỗ trợ ra quyết định lâm sàng.</a:t>
            </a:r>
          </a:p>
        </p:txBody>
      </p:sp>
      <p:cxnSp>
        <p:nvCxnSpPr>
          <p:cNvPr id="18" name="Đường kết nối Mũi tên Thẳng 17">
            <a:extLst>
              <a:ext uri="{FF2B5EF4-FFF2-40B4-BE49-F238E27FC236}">
                <a16:creationId xmlns:a16="http://schemas.microsoft.com/office/drawing/2014/main" id="{7247C336-C192-0269-9753-780C110F632B}"/>
              </a:ext>
            </a:extLst>
          </p:cNvPr>
          <p:cNvCxnSpPr>
            <a:cxnSpLocks/>
            <a:stCxn id="7" idx="0"/>
            <a:endCxn id="16" idx="2"/>
          </p:cNvCxnSpPr>
          <p:nvPr/>
        </p:nvCxnSpPr>
        <p:spPr>
          <a:xfrm flipV="1">
            <a:off x="4686299" y="3607475"/>
            <a:ext cx="2324101" cy="6597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6632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CD7FAB7-0807-EC8A-C75C-31BA60046F59}"/>
              </a:ext>
            </a:extLst>
          </p:cNvPr>
          <p:cNvSpPr>
            <a:spLocks noGrp="1"/>
          </p:cNvSpPr>
          <p:nvPr>
            <p:ph type="title"/>
          </p:nvPr>
        </p:nvSpPr>
        <p:spPr>
          <a:xfrm>
            <a:off x="762000" y="381000"/>
            <a:ext cx="7345172" cy="307777"/>
          </a:xfrm>
        </p:spPr>
        <p:txBody>
          <a:bodyPr/>
          <a:lstStyle/>
          <a:p>
            <a:r>
              <a:rPr lang="en-US" sz="2000" b="1" dirty="0"/>
              <a:t>THÁCH THỨC VÀ BỘ DỮ LIỆU CHEST X-RAY PNEUMONIA</a:t>
            </a:r>
            <a:endParaRPr lang="en-US" sz="2000" dirty="0"/>
          </a:p>
        </p:txBody>
      </p:sp>
      <p:sp>
        <p:nvSpPr>
          <p:cNvPr id="3" name="Chỗ dành sẵn cho Văn bản 2">
            <a:extLst>
              <a:ext uri="{FF2B5EF4-FFF2-40B4-BE49-F238E27FC236}">
                <a16:creationId xmlns:a16="http://schemas.microsoft.com/office/drawing/2014/main" id="{F211DF3F-EA81-848A-2D0C-CAB2788192D9}"/>
              </a:ext>
            </a:extLst>
          </p:cNvPr>
          <p:cNvSpPr>
            <a:spLocks noGrp="1"/>
          </p:cNvSpPr>
          <p:nvPr>
            <p:ph type="body" idx="1"/>
          </p:nvPr>
        </p:nvSpPr>
        <p:spPr>
          <a:xfrm>
            <a:off x="205688" y="1269233"/>
            <a:ext cx="8788042" cy="781240"/>
          </a:xfrm>
        </p:spPr>
        <p:txBody>
          <a:bodyPr/>
          <a:lstStyle/>
          <a:p>
            <a:pPr>
              <a:lnSpc>
                <a:spcPct val="150000"/>
              </a:lnSpc>
            </a:pPr>
            <a:r>
              <a:rPr lang="vi-VN" sz="1800" b="0" dirty="0"/>
              <a:t>- </a:t>
            </a:r>
            <a:r>
              <a:rPr lang="en-US" sz="1800" b="0" dirty="0" err="1"/>
              <a:t>Bài</a:t>
            </a:r>
            <a:r>
              <a:rPr lang="en-US" sz="1800" b="0" dirty="0"/>
              <a:t> </a:t>
            </a:r>
            <a:r>
              <a:rPr lang="en-US" sz="1800" b="0" dirty="0" err="1"/>
              <a:t>toán</a:t>
            </a:r>
            <a:r>
              <a:rPr lang="en-US" sz="1800" b="0" dirty="0"/>
              <a:t> </a:t>
            </a:r>
            <a:r>
              <a:rPr lang="en-US" sz="1800" b="0" dirty="0" err="1"/>
              <a:t>phân</a:t>
            </a:r>
            <a:r>
              <a:rPr lang="en-US" sz="1800" b="0" dirty="0"/>
              <a:t> </a:t>
            </a:r>
            <a:r>
              <a:rPr lang="en-US" sz="1800" b="0" dirty="0" err="1"/>
              <a:t>loại</a:t>
            </a:r>
            <a:r>
              <a:rPr lang="en-US" sz="1800" b="0" dirty="0"/>
              <a:t> </a:t>
            </a:r>
            <a:r>
              <a:rPr lang="en-US" sz="1800" b="0" dirty="0" err="1"/>
              <a:t>ảnh</a:t>
            </a:r>
            <a:r>
              <a:rPr lang="en-US" sz="1800" b="0" dirty="0"/>
              <a:t> X-ray </a:t>
            </a:r>
            <a:r>
              <a:rPr lang="en-US" sz="1800" b="0" dirty="0" err="1"/>
              <a:t>phổi</a:t>
            </a:r>
            <a:r>
              <a:rPr lang="en-US" sz="1800" b="0" dirty="0"/>
              <a:t> (NORMAL vs. PNEUMONIA) </a:t>
            </a:r>
            <a:r>
              <a:rPr lang="en-US" sz="1800" b="0" dirty="0" err="1"/>
              <a:t>đối</a:t>
            </a:r>
            <a:r>
              <a:rPr lang="en-US" sz="1800" b="0" dirty="0"/>
              <a:t> </a:t>
            </a:r>
            <a:r>
              <a:rPr lang="en-US" sz="1800" b="0" dirty="0" err="1"/>
              <a:t>mặt</a:t>
            </a:r>
            <a:r>
              <a:rPr lang="en-US" sz="1800" b="0" dirty="0"/>
              <a:t> </a:t>
            </a:r>
            <a:r>
              <a:rPr lang="en-US" sz="1800" b="0" dirty="0" err="1"/>
              <a:t>với</a:t>
            </a:r>
            <a:r>
              <a:rPr lang="en-US" sz="1800" b="0" dirty="0"/>
              <a:t> </a:t>
            </a:r>
            <a:r>
              <a:rPr lang="en-US" sz="1800" b="0" dirty="0" err="1"/>
              <a:t>nhiều</a:t>
            </a:r>
            <a:r>
              <a:rPr lang="en-US" sz="1800" b="0" dirty="0"/>
              <a:t> </a:t>
            </a:r>
            <a:r>
              <a:rPr lang="en-US" sz="1800" b="0" dirty="0" err="1"/>
              <a:t>thách</a:t>
            </a:r>
            <a:r>
              <a:rPr lang="en-US" sz="1800" b="0" dirty="0"/>
              <a:t> </a:t>
            </a:r>
            <a:r>
              <a:rPr lang="en-US" sz="1800" b="0" dirty="0" err="1"/>
              <a:t>thức</a:t>
            </a:r>
            <a:r>
              <a:rPr lang="en-US" sz="1800" b="0" dirty="0"/>
              <a:t>, </a:t>
            </a:r>
            <a:r>
              <a:rPr lang="en-US" sz="1800" b="0" dirty="0" err="1"/>
              <a:t>chủ</a:t>
            </a:r>
            <a:r>
              <a:rPr lang="en-US" sz="1800" b="0" dirty="0"/>
              <a:t> </a:t>
            </a:r>
            <a:r>
              <a:rPr lang="en-US" sz="1800" b="0" dirty="0" err="1"/>
              <a:t>yếu</a:t>
            </a:r>
            <a:r>
              <a:rPr lang="en-US" sz="1800" b="0" dirty="0"/>
              <a:t> do </a:t>
            </a:r>
            <a:r>
              <a:rPr lang="en-US" sz="1800" b="0" dirty="0" err="1"/>
              <a:t>đặc</a:t>
            </a:r>
            <a:r>
              <a:rPr lang="en-US" sz="1800" b="0" dirty="0"/>
              <a:t> </a:t>
            </a:r>
            <a:r>
              <a:rPr lang="en-US" sz="1800" b="0" dirty="0" err="1"/>
              <a:t>thù</a:t>
            </a:r>
            <a:r>
              <a:rPr lang="en-US" sz="1800" b="0" dirty="0"/>
              <a:t> </a:t>
            </a:r>
            <a:r>
              <a:rPr lang="en-US" sz="1800" b="0" dirty="0" err="1"/>
              <a:t>của</a:t>
            </a:r>
            <a:r>
              <a:rPr lang="en-US" sz="1800" b="0" dirty="0"/>
              <a:t> </a:t>
            </a:r>
            <a:r>
              <a:rPr lang="en-US" sz="1800" b="0" dirty="0" err="1"/>
              <a:t>dữ</a:t>
            </a:r>
            <a:r>
              <a:rPr lang="en-US" sz="1800" b="0" dirty="0"/>
              <a:t> </a:t>
            </a:r>
            <a:r>
              <a:rPr lang="en-US" sz="1800" b="0" dirty="0" err="1"/>
              <a:t>liệu</a:t>
            </a:r>
            <a:r>
              <a:rPr lang="en-US" sz="1800" b="0" dirty="0"/>
              <a:t> y </a:t>
            </a:r>
            <a:r>
              <a:rPr lang="vi-VN" sz="1800" b="0" dirty="0"/>
              <a:t>khoa:</a:t>
            </a:r>
            <a:endParaRPr lang="en-US" sz="1800" b="0" dirty="0"/>
          </a:p>
        </p:txBody>
      </p:sp>
      <p:graphicFrame>
        <p:nvGraphicFramePr>
          <p:cNvPr id="4" name="Bảng 3">
            <a:extLst>
              <a:ext uri="{FF2B5EF4-FFF2-40B4-BE49-F238E27FC236}">
                <a16:creationId xmlns:a16="http://schemas.microsoft.com/office/drawing/2014/main" id="{16FDFD74-7236-99C5-0FA5-9E371EA2DBA9}"/>
              </a:ext>
            </a:extLst>
          </p:cNvPr>
          <p:cNvGraphicFramePr>
            <a:graphicFrameLocks noGrp="1"/>
          </p:cNvGraphicFramePr>
          <p:nvPr>
            <p:extLst>
              <p:ext uri="{D42A27DB-BD31-4B8C-83A1-F6EECF244321}">
                <p14:modId xmlns:p14="http://schemas.microsoft.com/office/powerpoint/2010/main" val="990188291"/>
              </p:ext>
            </p:extLst>
          </p:nvPr>
        </p:nvGraphicFramePr>
        <p:xfrm>
          <a:off x="171052" y="2280145"/>
          <a:ext cx="8788042" cy="3383280"/>
        </p:xfrm>
        <a:graphic>
          <a:graphicData uri="http://schemas.openxmlformats.org/drawingml/2006/table">
            <a:tbl>
              <a:tblPr firstRow="1" bandRow="1">
                <a:tableStyleId>{5C22544A-7EE6-4342-B048-85BDC9FD1C3A}</a:tableStyleId>
              </a:tblPr>
              <a:tblGrid>
                <a:gridCol w="905984">
                  <a:extLst>
                    <a:ext uri="{9D8B030D-6E8A-4147-A177-3AD203B41FA5}">
                      <a16:colId xmlns:a16="http://schemas.microsoft.com/office/drawing/2014/main" val="4170784248"/>
                    </a:ext>
                  </a:extLst>
                </a:gridCol>
                <a:gridCol w="3411837">
                  <a:extLst>
                    <a:ext uri="{9D8B030D-6E8A-4147-A177-3AD203B41FA5}">
                      <a16:colId xmlns:a16="http://schemas.microsoft.com/office/drawing/2014/main" val="6943016"/>
                    </a:ext>
                  </a:extLst>
                </a:gridCol>
                <a:gridCol w="4470221">
                  <a:extLst>
                    <a:ext uri="{9D8B030D-6E8A-4147-A177-3AD203B41FA5}">
                      <a16:colId xmlns:a16="http://schemas.microsoft.com/office/drawing/2014/main" val="3925658056"/>
                    </a:ext>
                  </a:extLst>
                </a:gridCol>
              </a:tblGrid>
              <a:tr h="370840">
                <a:tc>
                  <a:txBody>
                    <a:bodyPr/>
                    <a:lstStyle/>
                    <a:p>
                      <a:pPr algn="ctr"/>
                      <a:r>
                        <a:rPr lang="en-US" sz="1800" dirty="0">
                          <a:latin typeface="Times New Roman" panose="02020603050405020304" pitchFamily="18" charset="0"/>
                          <a:cs typeface="Times New Roman" panose="02020603050405020304" pitchFamily="18" charset="0"/>
                        </a:rPr>
                        <a:t>1</a:t>
                      </a:r>
                    </a:p>
                  </a:txBody>
                  <a:tcPr anchor="ctr"/>
                </a:tc>
                <a:tc>
                  <a:txBody>
                    <a:bodyPr/>
                    <a:lstStyle/>
                    <a:p>
                      <a:r>
                        <a:rPr lang="vi-VN" sz="1800" dirty="0">
                          <a:latin typeface="Times New Roman" panose="02020603050405020304" pitchFamily="18" charset="0"/>
                          <a:cs typeface="Times New Roman" panose="02020603050405020304" pitchFamily="18" charset="0"/>
                        </a:rPr>
                        <a:t>Chất lượng ảnh không đồng đều</a:t>
                      </a:r>
                    </a:p>
                  </a:txBody>
                  <a:tcPr anchor="ctr"/>
                </a:tc>
                <a:tc>
                  <a:txBody>
                    <a:bodyPr/>
                    <a:lstStyle/>
                    <a:p>
                      <a:r>
                        <a:rPr lang="vi-VN" sz="1800" dirty="0">
                          <a:latin typeface="Times New Roman" panose="02020603050405020304" pitchFamily="18" charset="0"/>
                          <a:cs typeface="Times New Roman" panose="02020603050405020304" pitchFamily="18" charset="0"/>
                        </a:rPr>
                        <a:t>Ảnh X-ray có độ phân giải, độ tương phản và mức nhiễu khác nhau do nhiều thiết bị và điều kiện chụp khác nhau.</a:t>
                      </a:r>
                    </a:p>
                  </a:txBody>
                  <a:tcPr anchor="ctr"/>
                </a:tc>
                <a:extLst>
                  <a:ext uri="{0D108BD9-81ED-4DB2-BD59-A6C34878D82A}">
                    <a16:rowId xmlns:a16="http://schemas.microsoft.com/office/drawing/2014/main" val="2270027395"/>
                  </a:ext>
                </a:extLst>
              </a:tr>
              <a:tr h="370840">
                <a:tc>
                  <a:txBody>
                    <a:bodyPr/>
                    <a:lstStyle/>
                    <a:p>
                      <a:pPr algn="ctr"/>
                      <a:r>
                        <a:rPr lang="en-US" sz="1800" dirty="0">
                          <a:latin typeface="Times New Roman" panose="02020603050405020304" pitchFamily="18" charset="0"/>
                          <a:cs typeface="Times New Roman" panose="02020603050405020304" pitchFamily="18" charset="0"/>
                        </a:rPr>
                        <a:t>2</a:t>
                      </a:r>
                    </a:p>
                  </a:txBody>
                  <a:tcPr anchor="ctr"/>
                </a:tc>
                <a:tc>
                  <a:txBody>
                    <a:bodyPr/>
                    <a:lstStyle/>
                    <a:p>
                      <a:r>
                        <a:rPr lang="en-US" sz="1800" dirty="0" err="1">
                          <a:latin typeface="Times New Roman" panose="02020603050405020304" pitchFamily="18" charset="0"/>
                          <a:cs typeface="Times New Roman" panose="02020603050405020304" pitchFamily="18" charset="0"/>
                        </a:rPr>
                        <a:t>Mất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cân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bằng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dữ</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liệu</a:t>
                      </a:r>
                      <a:endParaRPr lang="en-US" sz="1800" dirty="0">
                        <a:latin typeface="Times New Roman" panose="02020603050405020304" pitchFamily="18" charset="0"/>
                        <a:cs typeface="Times New Roman" panose="02020603050405020304" pitchFamily="18" charset="0"/>
                      </a:endParaRPr>
                    </a:p>
                  </a:txBody>
                  <a:tcPr anchor="ctr"/>
                </a:tc>
                <a:tc>
                  <a:txBody>
                    <a:bodyPr/>
                    <a:lstStyle/>
                    <a:p>
                      <a:r>
                        <a:rPr lang="vi-VN" sz="1800" dirty="0">
                          <a:latin typeface="Times New Roman" panose="02020603050405020304" pitchFamily="18" charset="0"/>
                          <a:cs typeface="Times New Roman" panose="02020603050405020304" pitchFamily="18" charset="0"/>
                        </a:rPr>
                        <a:t>Số lượng ảnh viêm phổi nhiều hơn ảnh bình thường (PNEUMONIA: 4273, NORMAL: 1583), dễ gây thiên lệch mô hình.</a:t>
                      </a:r>
                    </a:p>
                  </a:txBody>
                  <a:tcPr anchor="ctr"/>
                </a:tc>
                <a:extLst>
                  <a:ext uri="{0D108BD9-81ED-4DB2-BD59-A6C34878D82A}">
                    <a16:rowId xmlns:a16="http://schemas.microsoft.com/office/drawing/2014/main" val="2913665710"/>
                  </a:ext>
                </a:extLst>
              </a:tr>
              <a:tr h="370840">
                <a:tc>
                  <a:txBody>
                    <a:bodyPr/>
                    <a:lstStyle/>
                    <a:p>
                      <a:pPr algn="ctr"/>
                      <a:r>
                        <a:rPr lang="en-US" sz="1800" dirty="0">
                          <a:latin typeface="Times New Roman" panose="02020603050405020304" pitchFamily="18" charset="0"/>
                          <a:cs typeface="Times New Roman" panose="02020603050405020304" pitchFamily="18" charset="0"/>
                        </a:rPr>
                        <a:t>3</a:t>
                      </a:r>
                    </a:p>
                  </a:txBody>
                  <a:tcPr anchor="ctr"/>
                </a:tc>
                <a:tc>
                  <a:txBody>
                    <a:bodyPr/>
                    <a:lstStyle/>
                    <a:p>
                      <a:r>
                        <a:rPr lang="vi-VN" sz="1800">
                          <a:latin typeface="Times New Roman" panose="02020603050405020304" pitchFamily="18" charset="0"/>
                          <a:cs typeface="Times New Roman" panose="02020603050405020304" pitchFamily="18" charset="0"/>
                        </a:rPr>
                        <a:t>Đặc trưng bệnh lý phức tạp</a:t>
                      </a:r>
                    </a:p>
                  </a:txBody>
                  <a:tcPr anchor="ctr"/>
                </a:tc>
                <a:tc>
                  <a:txBody>
                    <a:bodyPr/>
                    <a:lstStyle/>
                    <a:p>
                      <a:r>
                        <a:rPr lang="en-US" sz="1800" dirty="0" err="1">
                          <a:latin typeface="Times New Roman" panose="02020603050405020304" pitchFamily="18" charset="0"/>
                          <a:cs typeface="Times New Roman" panose="02020603050405020304" pitchFamily="18" charset="0"/>
                        </a:rPr>
                        <a:t>Biểu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viêm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phổi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dễ</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nhầm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lẫn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với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bệnh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phổi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hoặc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đặc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điểm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sinh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của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bệnh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nhân</a:t>
                      </a:r>
                      <a:r>
                        <a:rPr lang="en-US" sz="1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066718485"/>
                  </a:ext>
                </a:extLst>
              </a:tr>
              <a:tr h="370840">
                <a:tc>
                  <a:txBody>
                    <a:bodyPr/>
                    <a:lstStyle/>
                    <a:p>
                      <a:pPr algn="ctr"/>
                      <a:r>
                        <a:rPr lang="en-US" sz="1800" dirty="0">
                          <a:latin typeface="Times New Roman" panose="02020603050405020304" pitchFamily="18" charset="0"/>
                          <a:cs typeface="Times New Roman" panose="02020603050405020304" pitchFamily="18" charset="0"/>
                        </a:rPr>
                        <a:t>4</a:t>
                      </a:r>
                    </a:p>
                  </a:txBody>
                  <a:tcPr anchor="ctr"/>
                </a:tc>
                <a:tc>
                  <a:txBody>
                    <a:bodyPr/>
                    <a:lstStyle/>
                    <a:p>
                      <a:r>
                        <a:rPr lang="en-US" sz="1800" dirty="0" err="1">
                          <a:latin typeface="Times New Roman" panose="02020603050405020304" pitchFamily="18" charset="0"/>
                          <a:cs typeface="Times New Roman" panose="02020603050405020304" pitchFamily="18" charset="0"/>
                        </a:rPr>
                        <a:t>Khó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giải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thích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mô</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hình</a:t>
                      </a:r>
                      <a:endParaRPr lang="en-US" sz="1800" dirty="0">
                        <a:latin typeface="Times New Roman" panose="02020603050405020304" pitchFamily="18" charset="0"/>
                        <a:cs typeface="Times New Roman" panose="02020603050405020304" pitchFamily="18" charset="0"/>
                      </a:endParaRPr>
                    </a:p>
                  </a:txBody>
                  <a:tcPr anchor="ctr"/>
                </a:tc>
                <a:tc>
                  <a:txBody>
                    <a:bodyPr/>
                    <a:lstStyle/>
                    <a:p>
                      <a:r>
                        <a:rPr lang="en-US" sz="1800" dirty="0" err="1">
                          <a:latin typeface="Times New Roman" panose="02020603050405020304" pitchFamily="18" charset="0"/>
                          <a:cs typeface="Times New Roman" panose="02020603050405020304" pitchFamily="18" charset="0"/>
                        </a:rPr>
                        <a:t>Mô</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hình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học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sâu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tính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hộp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đen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giải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thích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nguyên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nhân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dự</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đoán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trong</a:t>
                      </a:r>
                      <a:r>
                        <a:rPr lang="en-US" sz="1800" dirty="0">
                          <a:latin typeface="Times New Roman" panose="02020603050405020304" pitchFamily="18" charset="0"/>
                          <a:cs typeface="Times New Roman" panose="02020603050405020304" pitchFamily="18" charset="0"/>
                        </a:rPr>
                        <a:t> y </a:t>
                      </a:r>
                      <a:r>
                        <a:rPr lang="en-US" sz="1800" dirty="0" err="1">
                          <a:latin typeface="Times New Roman" panose="02020603050405020304" pitchFamily="18" charset="0"/>
                          <a:cs typeface="Times New Roman" panose="02020603050405020304" pitchFamily="18" charset="0"/>
                        </a:rPr>
                        <a:t>tế</a:t>
                      </a:r>
                      <a:r>
                        <a:rPr lang="en-US" sz="1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2592310199"/>
                  </a:ext>
                </a:extLst>
              </a:tr>
            </a:tbl>
          </a:graphicData>
        </a:graphic>
      </p:graphicFrame>
    </p:spTree>
    <p:extLst>
      <p:ext uri="{BB962C8B-B14F-4D97-AF65-F5344CB8AC3E}">
        <p14:creationId xmlns:p14="http://schemas.microsoft.com/office/powerpoint/2010/main" val="438702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129022D-D54B-2071-0FA8-F454D4427F46}"/>
              </a:ext>
            </a:extLst>
          </p:cNvPr>
          <p:cNvSpPr>
            <a:spLocks noGrp="1"/>
          </p:cNvSpPr>
          <p:nvPr>
            <p:ph type="title"/>
          </p:nvPr>
        </p:nvSpPr>
        <p:spPr>
          <a:xfrm>
            <a:off x="762000" y="304800"/>
            <a:ext cx="7345172" cy="430887"/>
          </a:xfrm>
        </p:spPr>
        <p:txBody>
          <a:bodyPr/>
          <a:lstStyle/>
          <a:p>
            <a:r>
              <a:rPr lang="en-US" sz="2800" b="1" dirty="0"/>
              <a:t>NGHIÊN CỨU LÝ THUYẾT VỀ RESNET-34</a:t>
            </a:r>
            <a:endParaRPr lang="en-US" sz="2800" dirty="0"/>
          </a:p>
        </p:txBody>
      </p:sp>
      <p:pic>
        <p:nvPicPr>
          <p:cNvPr id="19" name="Image 0" descr="preencoded.png">
            <a:extLst>
              <a:ext uri="{FF2B5EF4-FFF2-40B4-BE49-F238E27FC236}">
                <a16:creationId xmlns:a16="http://schemas.microsoft.com/office/drawing/2014/main" id="{F112B0E2-A3E5-B4ED-1316-8D22FD59395B}"/>
              </a:ext>
            </a:extLst>
          </p:cNvPr>
          <p:cNvPicPr>
            <a:picLocks noChangeAspect="1"/>
          </p:cNvPicPr>
          <p:nvPr/>
        </p:nvPicPr>
        <p:blipFill>
          <a:blip r:embed="rId2"/>
          <a:stretch>
            <a:fillRect/>
          </a:stretch>
        </p:blipFill>
        <p:spPr>
          <a:xfrm>
            <a:off x="3331703" y="2248680"/>
            <a:ext cx="2876669" cy="2876669"/>
          </a:xfrm>
          <a:prstGeom prst="rect">
            <a:avLst/>
          </a:prstGeom>
        </p:spPr>
      </p:pic>
      <p:pic>
        <p:nvPicPr>
          <p:cNvPr id="20" name="Image 1" descr="preencoded.png">
            <a:extLst>
              <a:ext uri="{FF2B5EF4-FFF2-40B4-BE49-F238E27FC236}">
                <a16:creationId xmlns:a16="http://schemas.microsoft.com/office/drawing/2014/main" id="{EA84784E-1551-3D54-DCBF-B7D965BEAD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52980" y="2832073"/>
            <a:ext cx="420095" cy="420095"/>
          </a:xfrm>
          <a:prstGeom prst="rect">
            <a:avLst/>
          </a:prstGeom>
        </p:spPr>
      </p:pic>
      <p:pic>
        <p:nvPicPr>
          <p:cNvPr id="21" name="Image 2" descr="preencoded.png">
            <a:extLst>
              <a:ext uri="{FF2B5EF4-FFF2-40B4-BE49-F238E27FC236}">
                <a16:creationId xmlns:a16="http://schemas.microsoft.com/office/drawing/2014/main" id="{046A7954-11EC-71D2-134F-240094A51513}"/>
              </a:ext>
            </a:extLst>
          </p:cNvPr>
          <p:cNvPicPr>
            <a:picLocks noChangeAspect="1"/>
          </p:cNvPicPr>
          <p:nvPr/>
        </p:nvPicPr>
        <p:blipFill>
          <a:blip r:embed="rId5"/>
          <a:stretch>
            <a:fillRect/>
          </a:stretch>
        </p:blipFill>
        <p:spPr>
          <a:xfrm>
            <a:off x="3331704" y="2259470"/>
            <a:ext cx="2876669" cy="2876669"/>
          </a:xfrm>
          <a:prstGeom prst="rect">
            <a:avLst/>
          </a:prstGeom>
        </p:spPr>
      </p:pic>
      <p:pic>
        <p:nvPicPr>
          <p:cNvPr id="22" name="Image 3" descr="preencoded.png">
            <a:extLst>
              <a:ext uri="{FF2B5EF4-FFF2-40B4-BE49-F238E27FC236}">
                <a16:creationId xmlns:a16="http://schemas.microsoft.com/office/drawing/2014/main" id="{4FD366C0-3CFB-E468-2F6F-056D4BB515B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57810" y="2832073"/>
            <a:ext cx="384033" cy="384033"/>
          </a:xfrm>
          <a:prstGeom prst="rect">
            <a:avLst/>
          </a:prstGeom>
        </p:spPr>
      </p:pic>
      <p:pic>
        <p:nvPicPr>
          <p:cNvPr id="23" name="Image 4" descr="preencoded.png">
            <a:extLst>
              <a:ext uri="{FF2B5EF4-FFF2-40B4-BE49-F238E27FC236}">
                <a16:creationId xmlns:a16="http://schemas.microsoft.com/office/drawing/2014/main" id="{1C67038D-2053-C220-691F-80ABCBFF1D8F}"/>
              </a:ext>
            </a:extLst>
          </p:cNvPr>
          <p:cNvPicPr>
            <a:picLocks noChangeAspect="1"/>
          </p:cNvPicPr>
          <p:nvPr/>
        </p:nvPicPr>
        <p:blipFill>
          <a:blip r:embed="rId8"/>
          <a:stretch>
            <a:fillRect/>
          </a:stretch>
        </p:blipFill>
        <p:spPr>
          <a:xfrm>
            <a:off x="3331705" y="2248680"/>
            <a:ext cx="2876669" cy="2876669"/>
          </a:xfrm>
          <a:prstGeom prst="rect">
            <a:avLst/>
          </a:prstGeom>
        </p:spPr>
      </p:pic>
      <p:pic>
        <p:nvPicPr>
          <p:cNvPr id="24" name="Image 5" descr="preencoded.png">
            <a:extLst>
              <a:ext uri="{FF2B5EF4-FFF2-40B4-BE49-F238E27FC236}">
                <a16:creationId xmlns:a16="http://schemas.microsoft.com/office/drawing/2014/main" id="{F4444FFC-AF6D-685E-70D1-6E270413B80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37028" y="4187350"/>
            <a:ext cx="333826" cy="333826"/>
          </a:xfrm>
          <a:prstGeom prst="rect">
            <a:avLst/>
          </a:prstGeom>
        </p:spPr>
      </p:pic>
      <p:pic>
        <p:nvPicPr>
          <p:cNvPr id="25" name="Image 6" descr="preencoded.png">
            <a:extLst>
              <a:ext uri="{FF2B5EF4-FFF2-40B4-BE49-F238E27FC236}">
                <a16:creationId xmlns:a16="http://schemas.microsoft.com/office/drawing/2014/main" id="{119DD801-B012-5409-D098-1A984383F42C}"/>
              </a:ext>
            </a:extLst>
          </p:cNvPr>
          <p:cNvPicPr>
            <a:picLocks noChangeAspect="1"/>
          </p:cNvPicPr>
          <p:nvPr/>
        </p:nvPicPr>
        <p:blipFill>
          <a:blip r:embed="rId11"/>
          <a:stretch>
            <a:fillRect/>
          </a:stretch>
        </p:blipFill>
        <p:spPr>
          <a:xfrm>
            <a:off x="3331706" y="2237890"/>
            <a:ext cx="2876669" cy="2876669"/>
          </a:xfrm>
          <a:prstGeom prst="rect">
            <a:avLst/>
          </a:prstGeom>
        </p:spPr>
      </p:pic>
      <p:pic>
        <p:nvPicPr>
          <p:cNvPr id="26" name="Image 7" descr="preencoded.png">
            <a:extLst>
              <a:ext uri="{FF2B5EF4-FFF2-40B4-BE49-F238E27FC236}">
                <a16:creationId xmlns:a16="http://schemas.microsoft.com/office/drawing/2014/main" id="{43A908CD-9FB1-AE5F-15DE-13A1341C06B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876798" y="4242768"/>
            <a:ext cx="370284" cy="370284"/>
          </a:xfrm>
          <a:prstGeom prst="rect">
            <a:avLst/>
          </a:prstGeom>
        </p:spPr>
      </p:pic>
      <p:sp>
        <p:nvSpPr>
          <p:cNvPr id="28" name="Hộp Văn bản 27">
            <a:extLst>
              <a:ext uri="{FF2B5EF4-FFF2-40B4-BE49-F238E27FC236}">
                <a16:creationId xmlns:a16="http://schemas.microsoft.com/office/drawing/2014/main" id="{0EED9CEB-440F-60F2-5591-CAE9C50D235C}"/>
              </a:ext>
            </a:extLst>
          </p:cNvPr>
          <p:cNvSpPr txBox="1"/>
          <p:nvPr/>
        </p:nvSpPr>
        <p:spPr>
          <a:xfrm>
            <a:off x="949697" y="2112020"/>
            <a:ext cx="2924377" cy="375744"/>
          </a:xfrm>
          <a:prstGeom prst="rect">
            <a:avLst/>
          </a:prstGeom>
          <a:noFill/>
        </p:spPr>
        <p:txBody>
          <a:bodyPr wrap="square">
            <a:spAutoFit/>
          </a:bodyPr>
          <a:lstStyle/>
          <a:p>
            <a:pPr marL="0" indent="0" algn="l">
              <a:lnSpc>
                <a:spcPts val="2400"/>
              </a:lnSpc>
              <a:buNone/>
            </a:pPr>
            <a:r>
              <a:rPr lang="en-US" sz="1600" b="1" dirty="0" err="1">
                <a:solidFill>
                  <a:srgbClr val="3B3535"/>
                </a:solidFill>
                <a:latin typeface="Times New Roman" panose="02020603050405020304" pitchFamily="18" charset="0"/>
                <a:ea typeface="Red Hat Text" pitchFamily="34" charset="-122"/>
                <a:cs typeface="Times New Roman" panose="02020603050405020304" pitchFamily="18" charset="0"/>
              </a:rPr>
              <a:t>Học</a:t>
            </a: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 </a:t>
            </a:r>
            <a:r>
              <a:rPr lang="en-US" sz="1600" b="1" dirty="0" err="1">
                <a:solidFill>
                  <a:srgbClr val="3B3535"/>
                </a:solidFill>
                <a:latin typeface="Times New Roman" panose="02020603050405020304" pitchFamily="18" charset="0"/>
                <a:ea typeface="Red Hat Text" pitchFamily="34" charset="-122"/>
                <a:cs typeface="Times New Roman" panose="02020603050405020304" pitchFamily="18" charset="0"/>
              </a:rPr>
              <a:t>Sâu</a:t>
            </a: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 (Deep Learning)</a:t>
            </a:r>
            <a:endParaRPr lang="en-US" sz="1600" b="1" dirty="0">
              <a:latin typeface="Times New Roman" panose="02020603050405020304" pitchFamily="18" charset="0"/>
              <a:cs typeface="Times New Roman" panose="02020603050405020304" pitchFamily="18" charset="0"/>
            </a:endParaRPr>
          </a:p>
        </p:txBody>
      </p:sp>
      <p:sp>
        <p:nvSpPr>
          <p:cNvPr id="30" name="Hộp Văn bản 29">
            <a:extLst>
              <a:ext uri="{FF2B5EF4-FFF2-40B4-BE49-F238E27FC236}">
                <a16:creationId xmlns:a16="http://schemas.microsoft.com/office/drawing/2014/main" id="{5B217824-EFCF-2908-8CA7-95C97232BCBA}"/>
              </a:ext>
            </a:extLst>
          </p:cNvPr>
          <p:cNvSpPr txBox="1"/>
          <p:nvPr/>
        </p:nvSpPr>
        <p:spPr>
          <a:xfrm>
            <a:off x="-96829" y="2412141"/>
            <a:ext cx="3428535" cy="1051378"/>
          </a:xfrm>
          <a:prstGeom prst="rect">
            <a:avLst/>
          </a:prstGeom>
          <a:noFill/>
        </p:spPr>
        <p:txBody>
          <a:bodyPr wrap="square">
            <a:spAutoFit/>
          </a:bodyPr>
          <a:lstStyle/>
          <a:p>
            <a:pPr marL="0" indent="0" algn="r">
              <a:lnSpc>
                <a:spcPts val="2600"/>
              </a:lnSpc>
              <a:buNone/>
            </a:pP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Sử</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dụng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mạng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nơ-ron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nhiều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lớp</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để</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tự</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động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học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đặc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trưng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từ</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dữ</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liệu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thô</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giảm</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sự</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phụ</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thuộc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vào</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thiết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kế</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đặc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trưng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thủ</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công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32" name="Hộp Văn bản 31">
            <a:extLst>
              <a:ext uri="{FF2B5EF4-FFF2-40B4-BE49-F238E27FC236}">
                <a16:creationId xmlns:a16="http://schemas.microsoft.com/office/drawing/2014/main" id="{295F22BE-B4F8-2D36-4DBB-CD23E3CC0DA3}"/>
              </a:ext>
            </a:extLst>
          </p:cNvPr>
          <p:cNvSpPr txBox="1"/>
          <p:nvPr/>
        </p:nvSpPr>
        <p:spPr>
          <a:xfrm>
            <a:off x="1276691" y="3687014"/>
            <a:ext cx="2013451" cy="375744"/>
          </a:xfrm>
          <a:prstGeom prst="rect">
            <a:avLst/>
          </a:prstGeom>
          <a:noFill/>
        </p:spPr>
        <p:txBody>
          <a:bodyPr wrap="square">
            <a:spAutoFit/>
          </a:bodyPr>
          <a:lstStyle/>
          <a:p>
            <a:pPr marL="0" indent="0" algn="r">
              <a:lnSpc>
                <a:spcPts val="2400"/>
              </a:lnSpc>
              <a:buNone/>
            </a:pP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Transfer Learning</a:t>
            </a:r>
            <a:endParaRPr lang="en-US" sz="1600" b="1" dirty="0">
              <a:latin typeface="Times New Roman" panose="02020603050405020304" pitchFamily="18" charset="0"/>
              <a:cs typeface="Times New Roman" panose="02020603050405020304" pitchFamily="18" charset="0"/>
            </a:endParaRPr>
          </a:p>
        </p:txBody>
      </p:sp>
      <p:sp>
        <p:nvSpPr>
          <p:cNvPr id="34" name="Hộp Văn bản 33">
            <a:extLst>
              <a:ext uri="{FF2B5EF4-FFF2-40B4-BE49-F238E27FC236}">
                <a16:creationId xmlns:a16="http://schemas.microsoft.com/office/drawing/2014/main" id="{EF8A286E-E8C1-CDBD-4DD6-205B80AC1153}"/>
              </a:ext>
            </a:extLst>
          </p:cNvPr>
          <p:cNvSpPr txBox="1"/>
          <p:nvPr/>
        </p:nvSpPr>
        <p:spPr>
          <a:xfrm>
            <a:off x="-124538" y="4002955"/>
            <a:ext cx="3428535" cy="1718227"/>
          </a:xfrm>
          <a:prstGeom prst="rect">
            <a:avLst/>
          </a:prstGeom>
          <a:noFill/>
        </p:spPr>
        <p:txBody>
          <a:bodyPr wrap="square">
            <a:spAutoFit/>
          </a:bodyPr>
          <a:lstStyle/>
          <a:p>
            <a:pPr marL="0" indent="0" algn="r">
              <a:lnSpc>
                <a:spcPts val="2600"/>
              </a:lnSpc>
              <a:buNone/>
            </a:pP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Sử</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dụng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trọng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số</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pretrained (resnet34-b627a593.pth)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đã</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học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từ</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ImageNet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để</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kế</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thừa</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các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đặc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trưng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thị</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giác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chung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rút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ngắn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thời</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gian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huấn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luyện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và</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tăng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độ</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chính</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xác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trên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dữ</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liệu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y khoa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hạn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chế</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36" name="Hộp Văn bản 35">
            <a:extLst>
              <a:ext uri="{FF2B5EF4-FFF2-40B4-BE49-F238E27FC236}">
                <a16:creationId xmlns:a16="http://schemas.microsoft.com/office/drawing/2014/main" id="{C9D9EF2E-B573-DD68-33C2-73FF9641D273}"/>
              </a:ext>
            </a:extLst>
          </p:cNvPr>
          <p:cNvSpPr txBox="1"/>
          <p:nvPr/>
        </p:nvSpPr>
        <p:spPr>
          <a:xfrm>
            <a:off x="6273206" y="2118149"/>
            <a:ext cx="4634344" cy="375744"/>
          </a:xfrm>
          <a:prstGeom prst="rect">
            <a:avLst/>
          </a:prstGeom>
          <a:noFill/>
        </p:spPr>
        <p:txBody>
          <a:bodyPr wrap="square">
            <a:spAutoFit/>
          </a:bodyPr>
          <a:lstStyle/>
          <a:p>
            <a:pPr marL="0" indent="0" algn="l">
              <a:lnSpc>
                <a:spcPts val="2400"/>
              </a:lnSpc>
              <a:buNone/>
            </a:pPr>
            <a:r>
              <a:rPr lang="en-US" sz="1600" b="1" dirty="0" err="1">
                <a:solidFill>
                  <a:srgbClr val="3B3535"/>
                </a:solidFill>
                <a:latin typeface="Times New Roman" panose="02020603050405020304" pitchFamily="18" charset="0"/>
                <a:ea typeface="Red Hat Text" pitchFamily="34" charset="-122"/>
                <a:cs typeface="Times New Roman" panose="02020603050405020304" pitchFamily="18" charset="0"/>
              </a:rPr>
              <a:t>Mạng</a:t>
            </a: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 </a:t>
            </a:r>
            <a:r>
              <a:rPr lang="en-US" sz="1600" b="1" dirty="0" err="1">
                <a:solidFill>
                  <a:srgbClr val="3B3535"/>
                </a:solidFill>
                <a:latin typeface="Times New Roman" panose="02020603050405020304" pitchFamily="18" charset="0"/>
                <a:ea typeface="Red Hat Text" pitchFamily="34" charset="-122"/>
                <a:cs typeface="Times New Roman" panose="02020603050405020304" pitchFamily="18" charset="0"/>
              </a:rPr>
              <a:t>Nơ</a:t>
            </a: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-Ron </a:t>
            </a:r>
            <a:r>
              <a:rPr lang="en-US" sz="1600" b="1" dirty="0" err="1">
                <a:solidFill>
                  <a:srgbClr val="3B3535"/>
                </a:solidFill>
                <a:latin typeface="Times New Roman" panose="02020603050405020304" pitchFamily="18" charset="0"/>
                <a:ea typeface="Red Hat Text" pitchFamily="34" charset="-122"/>
                <a:cs typeface="Times New Roman" panose="02020603050405020304" pitchFamily="18" charset="0"/>
              </a:rPr>
              <a:t>Tích</a:t>
            </a: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 </a:t>
            </a:r>
            <a:r>
              <a:rPr lang="en-US" sz="1600" b="1" dirty="0" err="1">
                <a:solidFill>
                  <a:srgbClr val="3B3535"/>
                </a:solidFill>
                <a:latin typeface="Times New Roman" panose="02020603050405020304" pitchFamily="18" charset="0"/>
                <a:ea typeface="Red Hat Text" pitchFamily="34" charset="-122"/>
                <a:cs typeface="Times New Roman" panose="02020603050405020304" pitchFamily="18" charset="0"/>
              </a:rPr>
              <a:t>Chập</a:t>
            </a: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p:txBody>
      </p:sp>
      <p:sp>
        <p:nvSpPr>
          <p:cNvPr id="38" name="Hộp Văn bản 37">
            <a:extLst>
              <a:ext uri="{FF2B5EF4-FFF2-40B4-BE49-F238E27FC236}">
                <a16:creationId xmlns:a16="http://schemas.microsoft.com/office/drawing/2014/main" id="{DBD51EBE-98C6-025E-B3C5-353D6EF4547A}"/>
              </a:ext>
            </a:extLst>
          </p:cNvPr>
          <p:cNvSpPr txBox="1"/>
          <p:nvPr/>
        </p:nvSpPr>
        <p:spPr>
          <a:xfrm>
            <a:off x="6257915" y="2430102"/>
            <a:ext cx="2886085" cy="1051378"/>
          </a:xfrm>
          <a:prstGeom prst="rect">
            <a:avLst/>
          </a:prstGeom>
          <a:noFill/>
        </p:spPr>
        <p:txBody>
          <a:bodyPr wrap="square">
            <a:spAutoFit/>
          </a:bodyPr>
          <a:lstStyle/>
          <a:p>
            <a:pPr marL="0" indent="0" algn="l">
              <a:lnSpc>
                <a:spcPts val="2600"/>
              </a:lnSpc>
              <a:buNone/>
            </a:pP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Kiến</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a:t>
            </a: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trúc</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a:t>
            </a: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chuyên</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a:t>
            </a: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biệt</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a:t>
            </a: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cho</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a:t>
            </a: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ảnh</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bao </a:t>
            </a: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gồm</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a:t>
            </a: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các</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a:t>
            </a: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lớp</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Convolution, Pooling </a:t>
            </a:r>
            <a:r>
              <a:rPr lang="en-US" sz="1400" dirty="0" err="1">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và</a:t>
            </a:r>
            <a:r>
              <a:rPr lang="en-US" sz="1400" dirty="0">
                <a:solidFill>
                  <a:srgbClr val="3B3535"/>
                </a:solidFill>
                <a:latin typeface="Times New Roman" panose="02020603050405020304" pitchFamily="18" charset="0"/>
                <a:ea typeface="Roboto Light" panose="02000000000000000000" pitchFamily="2" charset="0"/>
                <a:cs typeface="Times New Roman" panose="02020603050405020304" pitchFamily="18" charset="0"/>
              </a:rPr>
              <a:t> Fully Connected</a:t>
            </a:r>
            <a:endParaRPr lang="en-US" sz="1400" dirty="0">
              <a:latin typeface="Times New Roman" panose="02020603050405020304" pitchFamily="18" charset="0"/>
              <a:ea typeface="Roboto Light" panose="02000000000000000000" pitchFamily="2" charset="0"/>
              <a:cs typeface="Times New Roman" panose="02020603050405020304" pitchFamily="18" charset="0"/>
            </a:endParaRPr>
          </a:p>
        </p:txBody>
      </p:sp>
      <p:sp>
        <p:nvSpPr>
          <p:cNvPr id="40" name="Hộp Văn bản 39">
            <a:extLst>
              <a:ext uri="{FF2B5EF4-FFF2-40B4-BE49-F238E27FC236}">
                <a16:creationId xmlns:a16="http://schemas.microsoft.com/office/drawing/2014/main" id="{D46F91AC-FFCF-1686-8EB8-CD80407083D6}"/>
              </a:ext>
            </a:extLst>
          </p:cNvPr>
          <p:cNvSpPr txBox="1"/>
          <p:nvPr/>
        </p:nvSpPr>
        <p:spPr>
          <a:xfrm>
            <a:off x="6257915" y="3697804"/>
            <a:ext cx="2101867" cy="375744"/>
          </a:xfrm>
          <a:prstGeom prst="rect">
            <a:avLst/>
          </a:prstGeom>
          <a:noFill/>
        </p:spPr>
        <p:txBody>
          <a:bodyPr wrap="square">
            <a:spAutoFit/>
          </a:bodyPr>
          <a:lstStyle/>
          <a:p>
            <a:pPr marL="0" indent="0" algn="l">
              <a:lnSpc>
                <a:spcPts val="2400"/>
              </a:lnSpc>
              <a:buNone/>
            </a:pPr>
            <a:r>
              <a:rPr lang="en-US" sz="1600" b="1" dirty="0" err="1">
                <a:solidFill>
                  <a:srgbClr val="3B3535"/>
                </a:solidFill>
                <a:latin typeface="Times New Roman" panose="02020603050405020304" pitchFamily="18" charset="0"/>
                <a:ea typeface="Red Hat Text" pitchFamily="34" charset="-122"/>
                <a:cs typeface="Times New Roman" panose="02020603050405020304" pitchFamily="18" charset="0"/>
              </a:rPr>
              <a:t>Kiến</a:t>
            </a: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 </a:t>
            </a:r>
            <a:r>
              <a:rPr lang="en-US" sz="1600" b="1" dirty="0" err="1">
                <a:solidFill>
                  <a:srgbClr val="3B3535"/>
                </a:solidFill>
                <a:latin typeface="Times New Roman" panose="02020603050405020304" pitchFamily="18" charset="0"/>
                <a:ea typeface="Red Hat Text" pitchFamily="34" charset="-122"/>
                <a:cs typeface="Times New Roman" panose="02020603050405020304" pitchFamily="18" charset="0"/>
              </a:rPr>
              <a:t>trúc</a:t>
            </a: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 </a:t>
            </a:r>
            <a:r>
              <a:rPr lang="en-US" sz="1600" b="1" dirty="0" err="1">
                <a:solidFill>
                  <a:srgbClr val="3B3535"/>
                </a:solidFill>
                <a:latin typeface="Times New Roman" panose="02020603050405020304" pitchFamily="18" charset="0"/>
                <a:ea typeface="Red Hat Text" pitchFamily="34" charset="-122"/>
                <a:cs typeface="Times New Roman" panose="02020603050405020304" pitchFamily="18" charset="0"/>
              </a:rPr>
              <a:t>ResNet</a:t>
            </a:r>
            <a:endParaRPr lang="en-US" sz="1600" b="1" dirty="0">
              <a:latin typeface="Times New Roman" panose="02020603050405020304" pitchFamily="18" charset="0"/>
              <a:cs typeface="Times New Roman" panose="02020603050405020304" pitchFamily="18" charset="0"/>
            </a:endParaRPr>
          </a:p>
        </p:txBody>
      </p:sp>
      <p:sp>
        <p:nvSpPr>
          <p:cNvPr id="42" name="Hộp Văn bản 41">
            <a:extLst>
              <a:ext uri="{FF2B5EF4-FFF2-40B4-BE49-F238E27FC236}">
                <a16:creationId xmlns:a16="http://schemas.microsoft.com/office/drawing/2014/main" id="{17FB162B-0C4E-708E-8380-F002CC9B0057}"/>
              </a:ext>
            </a:extLst>
          </p:cNvPr>
          <p:cNvSpPr txBox="1"/>
          <p:nvPr/>
        </p:nvSpPr>
        <p:spPr>
          <a:xfrm>
            <a:off x="6266259" y="4002955"/>
            <a:ext cx="2856943" cy="1718227"/>
          </a:xfrm>
          <a:prstGeom prst="rect">
            <a:avLst/>
          </a:prstGeom>
          <a:noFill/>
        </p:spPr>
        <p:txBody>
          <a:bodyPr wrap="square">
            <a:spAutoFit/>
          </a:bodyPr>
          <a:lstStyle/>
          <a:p>
            <a:pPr marL="0" indent="0" algn="l">
              <a:lnSpc>
                <a:spcPts val="2600"/>
              </a:lnSpc>
              <a:buNone/>
            </a:pP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Sử</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dụng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Residual Connection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kết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nối</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tắt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để</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khắc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phục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vấn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đề</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suy</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giảm</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gradient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khi</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mạng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trở</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nên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quá</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sâu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cho</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phép</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huấn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luyện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các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mạng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34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lớp</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hiệu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quả</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7941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9459E04-819A-A6E0-E9DE-8FF76E5B6760}"/>
              </a:ext>
            </a:extLst>
          </p:cNvPr>
          <p:cNvSpPr>
            <a:spLocks noGrp="1"/>
          </p:cNvSpPr>
          <p:nvPr>
            <p:ph type="title"/>
          </p:nvPr>
        </p:nvSpPr>
        <p:spPr>
          <a:xfrm>
            <a:off x="670813" y="381000"/>
            <a:ext cx="8473187" cy="738664"/>
          </a:xfrm>
        </p:spPr>
        <p:txBody>
          <a:bodyPr/>
          <a:lstStyle/>
          <a:p>
            <a:r>
              <a:rPr lang="en-US" sz="2400" b="1" dirty="0"/>
              <a:t>HIỆN THỰC HÓA NGHIÊN CỨU VÀ TIỀN XỬ LÝ DỮ LIỆU</a:t>
            </a:r>
            <a:br>
              <a:rPr lang="en-US" sz="2400" b="1" dirty="0"/>
            </a:br>
            <a:endParaRPr lang="en-US" sz="2400" dirty="0"/>
          </a:p>
        </p:txBody>
      </p:sp>
      <p:sp>
        <p:nvSpPr>
          <p:cNvPr id="7" name="Hình chữ nhật 6">
            <a:extLst>
              <a:ext uri="{FF2B5EF4-FFF2-40B4-BE49-F238E27FC236}">
                <a16:creationId xmlns:a16="http://schemas.microsoft.com/office/drawing/2014/main" id="{03B1E9A2-6836-09BA-FC59-27B8567D0755}"/>
              </a:ext>
            </a:extLst>
          </p:cNvPr>
          <p:cNvSpPr/>
          <p:nvPr/>
        </p:nvSpPr>
        <p:spPr>
          <a:xfrm>
            <a:off x="1108364" y="1678132"/>
            <a:ext cx="3082636"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l"/>
            <a:r>
              <a:rPr lang="vi-V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Thu </a:t>
            </a:r>
            <a:r>
              <a:rPr lang="en-US" dirty="0" err="1">
                <a:latin typeface="Times New Roman" panose="02020603050405020304" pitchFamily="18" charset="0"/>
                <a:cs typeface="Times New Roman" panose="02020603050405020304" pitchFamily="18" charset="0"/>
              </a:rPr>
              <a:t>thập</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Tìm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hiểu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4" name="Lưu đồ: Đường kết nối 3">
            <a:extLst>
              <a:ext uri="{FF2B5EF4-FFF2-40B4-BE49-F238E27FC236}">
                <a16:creationId xmlns:a16="http://schemas.microsoft.com/office/drawing/2014/main" id="{0F49FA74-7BF2-7502-9874-A3B7BED9C005}"/>
              </a:ext>
            </a:extLst>
          </p:cNvPr>
          <p:cNvSpPr/>
          <p:nvPr/>
        </p:nvSpPr>
        <p:spPr>
          <a:xfrm>
            <a:off x="670813" y="1563832"/>
            <a:ext cx="609600" cy="60960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6" name="Hình ảnh 5">
            <a:extLst>
              <a:ext uri="{FF2B5EF4-FFF2-40B4-BE49-F238E27FC236}">
                <a16:creationId xmlns:a16="http://schemas.microsoft.com/office/drawing/2014/main" id="{29AFA5C6-E017-7261-87E2-E06A1DB721CA}"/>
              </a:ext>
            </a:extLst>
          </p:cNvPr>
          <p:cNvPicPr>
            <a:picLocks noChangeAspect="1"/>
          </p:cNvPicPr>
          <p:nvPr/>
        </p:nvPicPr>
        <p:blipFill>
          <a:blip r:embed="rId2"/>
          <a:stretch>
            <a:fillRect/>
          </a:stretch>
        </p:blipFill>
        <p:spPr>
          <a:xfrm>
            <a:off x="785113" y="1659082"/>
            <a:ext cx="381000" cy="381000"/>
          </a:xfrm>
          <a:prstGeom prst="rect">
            <a:avLst/>
          </a:prstGeom>
        </p:spPr>
      </p:pic>
      <p:sp>
        <p:nvSpPr>
          <p:cNvPr id="8" name="Hình chữ nhật 7">
            <a:extLst>
              <a:ext uri="{FF2B5EF4-FFF2-40B4-BE49-F238E27FC236}">
                <a16:creationId xmlns:a16="http://schemas.microsoft.com/office/drawing/2014/main" id="{27C04808-2320-2387-379B-6D8B7081845C}"/>
              </a:ext>
            </a:extLst>
          </p:cNvPr>
          <p:cNvSpPr/>
          <p:nvPr/>
        </p:nvSpPr>
        <p:spPr>
          <a:xfrm>
            <a:off x="5638800" y="1678132"/>
            <a:ext cx="30480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l"/>
            <a:r>
              <a:rPr lang="vi-VN" dirty="0">
                <a:latin typeface="Times New Roman" panose="02020603050405020304" pitchFamily="18" charset="0"/>
                <a:cs typeface="Times New Roman" panose="02020603050405020304" pitchFamily="18" charset="0"/>
              </a:rPr>
              <a:t>   Tiền Xử Lý Dữ Liệu</a:t>
            </a:r>
          </a:p>
        </p:txBody>
      </p:sp>
      <p:sp>
        <p:nvSpPr>
          <p:cNvPr id="9" name="Lưu đồ: Đường kết nối 8">
            <a:extLst>
              <a:ext uri="{FF2B5EF4-FFF2-40B4-BE49-F238E27FC236}">
                <a16:creationId xmlns:a16="http://schemas.microsoft.com/office/drawing/2014/main" id="{72976876-AD30-3455-26B1-75A63B7837C7}"/>
              </a:ext>
            </a:extLst>
          </p:cNvPr>
          <p:cNvSpPr/>
          <p:nvPr/>
        </p:nvSpPr>
        <p:spPr>
          <a:xfrm>
            <a:off x="5201249" y="1563832"/>
            <a:ext cx="609600" cy="60960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Hình chữ nhật 10">
            <a:extLst>
              <a:ext uri="{FF2B5EF4-FFF2-40B4-BE49-F238E27FC236}">
                <a16:creationId xmlns:a16="http://schemas.microsoft.com/office/drawing/2014/main" id="{3A7D66D9-BAC3-933B-5AF3-FA08E5D3D4B0}"/>
              </a:ext>
            </a:extLst>
          </p:cNvPr>
          <p:cNvSpPr/>
          <p:nvPr/>
        </p:nvSpPr>
        <p:spPr>
          <a:xfrm>
            <a:off x="1108364" y="4121727"/>
            <a:ext cx="3082636"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l"/>
            <a:r>
              <a:rPr lang="vi-VN" dirty="0">
                <a:latin typeface="+mj-lt"/>
              </a:rPr>
              <a:t>   Tăng Cường Dữ Liệu</a:t>
            </a:r>
          </a:p>
        </p:txBody>
      </p:sp>
      <p:sp>
        <p:nvSpPr>
          <p:cNvPr id="12" name="Lưu đồ: Đường kết nối 11">
            <a:extLst>
              <a:ext uri="{FF2B5EF4-FFF2-40B4-BE49-F238E27FC236}">
                <a16:creationId xmlns:a16="http://schemas.microsoft.com/office/drawing/2014/main" id="{F0E6500C-0690-83BD-CE8B-71AAA4A91B5E}"/>
              </a:ext>
            </a:extLst>
          </p:cNvPr>
          <p:cNvSpPr/>
          <p:nvPr/>
        </p:nvSpPr>
        <p:spPr>
          <a:xfrm>
            <a:off x="670813" y="4007427"/>
            <a:ext cx="609600" cy="60960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Hình chữ nhật 13">
            <a:extLst>
              <a:ext uri="{FF2B5EF4-FFF2-40B4-BE49-F238E27FC236}">
                <a16:creationId xmlns:a16="http://schemas.microsoft.com/office/drawing/2014/main" id="{3DCDFA44-ABF3-0566-13E0-268931FAF2F5}"/>
              </a:ext>
            </a:extLst>
          </p:cNvPr>
          <p:cNvSpPr/>
          <p:nvPr/>
        </p:nvSpPr>
        <p:spPr>
          <a:xfrm>
            <a:off x="5638800" y="4109604"/>
            <a:ext cx="30480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l"/>
            <a:r>
              <a:rPr lang="vi-VN" dirty="0">
                <a:latin typeface="+mj-lt"/>
              </a:rPr>
              <a:t>  </a:t>
            </a:r>
            <a:r>
              <a:rPr lang="en-US" sz="1800" dirty="0" err="1">
                <a:solidFill>
                  <a:srgbClr val="3B3535"/>
                </a:solidFill>
                <a:latin typeface="+mj-lt"/>
                <a:ea typeface="Red Hat Text" pitchFamily="34" charset="-122"/>
                <a:cs typeface="Red Hat Text" pitchFamily="34" charset="-120"/>
              </a:rPr>
              <a:t>Xây</a:t>
            </a:r>
            <a:r>
              <a:rPr lang="en-US" sz="1800" dirty="0">
                <a:solidFill>
                  <a:srgbClr val="3B3535"/>
                </a:solidFill>
                <a:latin typeface="+mj-lt"/>
                <a:ea typeface="Red Hat Text" pitchFamily="34" charset="-122"/>
                <a:cs typeface="Red Hat Text" pitchFamily="34" charset="-120"/>
              </a:rPr>
              <a:t> </a:t>
            </a:r>
            <a:r>
              <a:rPr lang="en-US" sz="1800" dirty="0" err="1">
                <a:solidFill>
                  <a:srgbClr val="3B3535"/>
                </a:solidFill>
                <a:latin typeface="+mj-lt"/>
                <a:ea typeface="Red Hat Text" pitchFamily="34" charset="-122"/>
                <a:cs typeface="Red Hat Text" pitchFamily="34" charset="-120"/>
              </a:rPr>
              <a:t>dựng</a:t>
            </a:r>
            <a:r>
              <a:rPr lang="en-US" sz="1800" dirty="0">
                <a:solidFill>
                  <a:srgbClr val="3B3535"/>
                </a:solidFill>
                <a:latin typeface="+mj-lt"/>
                <a:ea typeface="Red Hat Text" pitchFamily="34" charset="-122"/>
                <a:cs typeface="Red Hat Text" pitchFamily="34" charset="-120"/>
              </a:rPr>
              <a:t> </a:t>
            </a:r>
            <a:r>
              <a:rPr lang="en-US" sz="1800" dirty="0" err="1">
                <a:solidFill>
                  <a:srgbClr val="3B3535"/>
                </a:solidFill>
                <a:latin typeface="+mj-lt"/>
                <a:ea typeface="Red Hat Text" pitchFamily="34" charset="-122"/>
                <a:cs typeface="Red Hat Text" pitchFamily="34" charset="-120"/>
              </a:rPr>
              <a:t>Mô</a:t>
            </a:r>
            <a:r>
              <a:rPr lang="en-US" sz="1800" dirty="0">
                <a:solidFill>
                  <a:srgbClr val="3B3535"/>
                </a:solidFill>
                <a:latin typeface="+mj-lt"/>
                <a:ea typeface="Red Hat Text" pitchFamily="34" charset="-122"/>
                <a:cs typeface="Red Hat Text" pitchFamily="34" charset="-120"/>
              </a:rPr>
              <a:t> </a:t>
            </a:r>
            <a:r>
              <a:rPr lang="en-US" sz="1800" dirty="0" err="1">
                <a:solidFill>
                  <a:srgbClr val="3B3535"/>
                </a:solidFill>
                <a:latin typeface="+mj-lt"/>
                <a:ea typeface="Red Hat Text" pitchFamily="34" charset="-122"/>
                <a:cs typeface="Red Hat Text" pitchFamily="34" charset="-120"/>
              </a:rPr>
              <a:t>hình</a:t>
            </a:r>
            <a:r>
              <a:rPr lang="en-US" sz="1800" dirty="0">
                <a:solidFill>
                  <a:srgbClr val="3B3535"/>
                </a:solidFill>
                <a:latin typeface="+mj-lt"/>
                <a:ea typeface="Red Hat Text" pitchFamily="34" charset="-122"/>
                <a:cs typeface="Red Hat Text" pitchFamily="34" charset="-120"/>
              </a:rPr>
              <a:t> ResNet-34</a:t>
            </a:r>
            <a:endParaRPr lang="en-US" sz="1800" dirty="0">
              <a:latin typeface="+mj-lt"/>
            </a:endParaRPr>
          </a:p>
        </p:txBody>
      </p:sp>
      <p:sp>
        <p:nvSpPr>
          <p:cNvPr id="15" name="Lưu đồ: Đường kết nối 14">
            <a:extLst>
              <a:ext uri="{FF2B5EF4-FFF2-40B4-BE49-F238E27FC236}">
                <a16:creationId xmlns:a16="http://schemas.microsoft.com/office/drawing/2014/main" id="{331F7D10-8DA7-28E7-3FC0-710A2FD79A99}"/>
              </a:ext>
            </a:extLst>
          </p:cNvPr>
          <p:cNvSpPr/>
          <p:nvPr/>
        </p:nvSpPr>
        <p:spPr>
          <a:xfrm>
            <a:off x="5201249" y="3995304"/>
            <a:ext cx="609600" cy="609600"/>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8" name="Hình ảnh 17">
            <a:extLst>
              <a:ext uri="{FF2B5EF4-FFF2-40B4-BE49-F238E27FC236}">
                <a16:creationId xmlns:a16="http://schemas.microsoft.com/office/drawing/2014/main" id="{EF6E7A40-E6EC-0B95-8BFE-12F7B1C2508D}"/>
              </a:ext>
            </a:extLst>
          </p:cNvPr>
          <p:cNvPicPr>
            <a:picLocks noChangeAspect="1"/>
          </p:cNvPicPr>
          <p:nvPr/>
        </p:nvPicPr>
        <p:blipFill>
          <a:blip r:embed="rId3"/>
          <a:stretch>
            <a:fillRect/>
          </a:stretch>
        </p:blipFill>
        <p:spPr>
          <a:xfrm>
            <a:off x="5321278" y="1668607"/>
            <a:ext cx="381000" cy="381000"/>
          </a:xfrm>
          <a:prstGeom prst="rect">
            <a:avLst/>
          </a:prstGeom>
        </p:spPr>
      </p:pic>
      <p:pic>
        <p:nvPicPr>
          <p:cNvPr id="20" name="Hình ảnh 19">
            <a:extLst>
              <a:ext uri="{FF2B5EF4-FFF2-40B4-BE49-F238E27FC236}">
                <a16:creationId xmlns:a16="http://schemas.microsoft.com/office/drawing/2014/main" id="{31F90F88-F78D-02A9-134A-F5D049FCC9C8}"/>
              </a:ext>
            </a:extLst>
          </p:cNvPr>
          <p:cNvPicPr>
            <a:picLocks noChangeAspect="1"/>
          </p:cNvPicPr>
          <p:nvPr/>
        </p:nvPicPr>
        <p:blipFill>
          <a:blip r:embed="rId4"/>
          <a:stretch>
            <a:fillRect/>
          </a:stretch>
        </p:blipFill>
        <p:spPr>
          <a:xfrm>
            <a:off x="766063" y="4109604"/>
            <a:ext cx="381000" cy="381000"/>
          </a:xfrm>
          <a:prstGeom prst="rect">
            <a:avLst/>
          </a:prstGeom>
        </p:spPr>
      </p:pic>
      <p:pic>
        <p:nvPicPr>
          <p:cNvPr id="22" name="Hình ảnh 21">
            <a:extLst>
              <a:ext uri="{FF2B5EF4-FFF2-40B4-BE49-F238E27FC236}">
                <a16:creationId xmlns:a16="http://schemas.microsoft.com/office/drawing/2014/main" id="{A1A1A156-E11C-6E02-76BC-F28EBDD91EE8}"/>
              </a:ext>
            </a:extLst>
          </p:cNvPr>
          <p:cNvPicPr>
            <a:picLocks noChangeAspect="1"/>
          </p:cNvPicPr>
          <p:nvPr/>
        </p:nvPicPr>
        <p:blipFill>
          <a:blip r:embed="rId5"/>
          <a:stretch>
            <a:fillRect/>
          </a:stretch>
        </p:blipFill>
        <p:spPr>
          <a:xfrm flipH="1">
            <a:off x="5312951" y="4109604"/>
            <a:ext cx="386196" cy="386196"/>
          </a:xfrm>
          <a:prstGeom prst="rect">
            <a:avLst/>
          </a:prstGeom>
        </p:spPr>
      </p:pic>
      <p:sp>
        <p:nvSpPr>
          <p:cNvPr id="23" name="Hình chữ nhật 22">
            <a:extLst>
              <a:ext uri="{FF2B5EF4-FFF2-40B4-BE49-F238E27FC236}">
                <a16:creationId xmlns:a16="http://schemas.microsoft.com/office/drawing/2014/main" id="{72049BF2-7D1B-2815-2119-450B4524C0CD}"/>
              </a:ext>
            </a:extLst>
          </p:cNvPr>
          <p:cNvSpPr/>
          <p:nvPr/>
        </p:nvSpPr>
        <p:spPr>
          <a:xfrm>
            <a:off x="1280413" y="2173431"/>
            <a:ext cx="2910587" cy="16434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l"/>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Chest X-Ray Pneumonia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Kaggle,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chia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3 </a:t>
            </a:r>
            <a:r>
              <a:rPr lang="en-US" dirty="0" err="1">
                <a:latin typeface="Times New Roman" panose="02020603050405020304" pitchFamily="18" charset="0"/>
                <a:cs typeface="Times New Roman" panose="02020603050405020304" pitchFamily="18" charset="0"/>
              </a:rPr>
              <a:t>tập</a:t>
            </a:r>
            <a:r>
              <a:rPr lang="en-US" dirty="0">
                <a:latin typeface="Times New Roman" panose="02020603050405020304" pitchFamily="18" charset="0"/>
                <a:cs typeface="Times New Roman" panose="02020603050405020304" pitchFamily="18" charset="0"/>
              </a:rPr>
              <a:t>: Train (5216 </a:t>
            </a:r>
            <a:r>
              <a:rPr lang="en-US" dirty="0" err="1">
                <a:latin typeface="Times New Roman" panose="02020603050405020304" pitchFamily="18" charset="0"/>
                <a:cs typeface="Times New Roman" panose="02020603050405020304" pitchFamily="18" charset="0"/>
              </a:rPr>
              <a:t>ảnh</a:t>
            </a:r>
            <a:r>
              <a:rPr lang="en-US" dirty="0">
                <a:latin typeface="Times New Roman" panose="02020603050405020304" pitchFamily="18" charset="0"/>
                <a:cs typeface="Times New Roman" panose="02020603050405020304" pitchFamily="18" charset="0"/>
              </a:rPr>
              <a:t>), Validation (16 </a:t>
            </a:r>
            <a:r>
              <a:rPr lang="en-US" dirty="0" err="1">
                <a:latin typeface="Times New Roman" panose="02020603050405020304" pitchFamily="18" charset="0"/>
                <a:cs typeface="Times New Roman" panose="02020603050405020304" pitchFamily="18" charset="0"/>
              </a:rPr>
              <a:t>ảnh</a:t>
            </a:r>
            <a:r>
              <a:rPr lang="en-US" dirty="0">
                <a:latin typeface="Times New Roman" panose="02020603050405020304" pitchFamily="18" charset="0"/>
                <a:cs typeface="Times New Roman" panose="02020603050405020304" pitchFamily="18" charset="0"/>
              </a:rPr>
              <a:t>), Test (624 </a:t>
            </a:r>
            <a:r>
              <a:rPr lang="en-US" dirty="0" err="1">
                <a:latin typeface="Times New Roman" panose="02020603050405020304" pitchFamily="18" charset="0"/>
                <a:cs typeface="Times New Roman" panose="02020603050405020304" pitchFamily="18" charset="0"/>
              </a:rPr>
              <a:t>ảnh</a:t>
            </a:r>
            <a:r>
              <a:rPr lang="en-US" dirty="0">
                <a:latin typeface="Times New Roman" panose="02020603050405020304" pitchFamily="18" charset="0"/>
                <a:cs typeface="Times New Roman" panose="02020603050405020304" pitchFamily="18" charset="0"/>
              </a:rPr>
              <a:t>).</a:t>
            </a:r>
          </a:p>
        </p:txBody>
      </p:sp>
      <p:sp>
        <p:nvSpPr>
          <p:cNvPr id="24" name="Hình chữ nhật 23">
            <a:extLst>
              <a:ext uri="{FF2B5EF4-FFF2-40B4-BE49-F238E27FC236}">
                <a16:creationId xmlns:a16="http://schemas.microsoft.com/office/drawing/2014/main" id="{C6F5F258-B32F-78EA-5329-402D3E14B721}"/>
              </a:ext>
            </a:extLst>
          </p:cNvPr>
          <p:cNvSpPr/>
          <p:nvPr/>
        </p:nvSpPr>
        <p:spPr>
          <a:xfrm>
            <a:off x="5699147" y="2173431"/>
            <a:ext cx="2987653" cy="16434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l"/>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Resize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ảnh</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về</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224x224 pixel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và</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chuẩn</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hóa</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giá</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trị</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pixel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để</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phù</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hợp</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với</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mô</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hình</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ResNet-34 pretrained.</a:t>
            </a:r>
            <a:endParaRPr lang="en-US" sz="1800" dirty="0">
              <a:latin typeface="Times New Roman" panose="02020603050405020304" pitchFamily="18" charset="0"/>
              <a:cs typeface="Times New Roman" panose="02020603050405020304" pitchFamily="18" charset="0"/>
            </a:endParaRPr>
          </a:p>
        </p:txBody>
      </p:sp>
      <p:sp>
        <p:nvSpPr>
          <p:cNvPr id="25" name="Hình chữ nhật 24">
            <a:extLst>
              <a:ext uri="{FF2B5EF4-FFF2-40B4-BE49-F238E27FC236}">
                <a16:creationId xmlns:a16="http://schemas.microsoft.com/office/drawing/2014/main" id="{620CCAB8-6B20-271A-5D08-5DE727FDC9A9}"/>
              </a:ext>
            </a:extLst>
          </p:cNvPr>
          <p:cNvSpPr/>
          <p:nvPr/>
        </p:nvSpPr>
        <p:spPr>
          <a:xfrm>
            <a:off x="1280413" y="4617027"/>
            <a:ext cx="2910587" cy="18339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l"/>
            <a:r>
              <a:rPr lang="vi-VN" dirty="0">
                <a:latin typeface="Times New Roman" panose="02020603050405020304" pitchFamily="18" charset="0"/>
                <a:cs typeface="Times New Roman" panose="02020603050405020304" pitchFamily="18" charset="0"/>
              </a:rPr>
              <a:t>Áp dụng các kỹ thuật như </a:t>
            </a:r>
            <a:r>
              <a:rPr lang="vi-VN" dirty="0" err="1">
                <a:latin typeface="Times New Roman" panose="02020603050405020304" pitchFamily="18" charset="0"/>
                <a:cs typeface="Times New Roman" panose="02020603050405020304" pitchFamily="18" charset="0"/>
              </a:rPr>
              <a:t>Horizontal</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Flip</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Random</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Rotation</a:t>
            </a:r>
            <a:r>
              <a:rPr lang="vi-VN" dirty="0">
                <a:latin typeface="Times New Roman" panose="02020603050405020304" pitchFamily="18" charset="0"/>
                <a:cs typeface="Times New Roman" panose="02020603050405020304" pitchFamily="18" charset="0"/>
              </a:rPr>
              <a:t> (±10°–15°), và điều chỉnh </a:t>
            </a:r>
            <a:r>
              <a:rPr lang="vi-VN" dirty="0" err="1">
                <a:latin typeface="Times New Roman" panose="02020603050405020304" pitchFamily="18" charset="0"/>
                <a:cs typeface="Times New Roman" panose="02020603050405020304" pitchFamily="18" charset="0"/>
              </a:rPr>
              <a:t>Brightness</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Contrast</a:t>
            </a:r>
            <a:r>
              <a:rPr lang="vi-VN" dirty="0">
                <a:latin typeface="Times New Roman" panose="02020603050405020304" pitchFamily="18" charset="0"/>
                <a:cs typeface="Times New Roman" panose="02020603050405020304" pitchFamily="18" charset="0"/>
              </a:rPr>
              <a:t> để tăng tính đa dạng và giảm </a:t>
            </a:r>
            <a:r>
              <a:rPr lang="vi-VN" dirty="0" err="1">
                <a:latin typeface="Times New Roman" panose="02020603050405020304" pitchFamily="18" charset="0"/>
                <a:cs typeface="Times New Roman" panose="02020603050405020304" pitchFamily="18" charset="0"/>
              </a:rPr>
              <a:t>overfitting</a:t>
            </a:r>
            <a:r>
              <a:rPr lang="vi-VN" dirty="0">
                <a:latin typeface="Times New Roman" panose="02020603050405020304" pitchFamily="18" charset="0"/>
                <a:cs typeface="Times New Roman" panose="02020603050405020304" pitchFamily="18" charset="0"/>
              </a:rPr>
              <a:t>.</a:t>
            </a:r>
          </a:p>
        </p:txBody>
      </p:sp>
      <p:sp>
        <p:nvSpPr>
          <p:cNvPr id="26" name="Hình chữ nhật 25">
            <a:extLst>
              <a:ext uri="{FF2B5EF4-FFF2-40B4-BE49-F238E27FC236}">
                <a16:creationId xmlns:a16="http://schemas.microsoft.com/office/drawing/2014/main" id="{2C988E35-5A4F-C6E3-4DF2-CEE1B3E66F4F}"/>
              </a:ext>
            </a:extLst>
          </p:cNvPr>
          <p:cNvSpPr/>
          <p:nvPr/>
        </p:nvSpPr>
        <p:spPr>
          <a:xfrm>
            <a:off x="5810849" y="4604905"/>
            <a:ext cx="2910587" cy="184611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l"/>
            <a:r>
              <a:rPr lang="en-US" dirty="0">
                <a:latin typeface="Times New Roman" panose="02020603050405020304" pitchFamily="18" charset="0"/>
                <a:cs typeface="Times New Roman" panose="02020603050405020304" pitchFamily="18" charset="0"/>
              </a:rPr>
              <a:t>Load </a:t>
            </a:r>
            <a:r>
              <a:rPr lang="en-US" dirty="0" err="1">
                <a:latin typeface="Times New Roman" panose="02020603050405020304" pitchFamily="18" charset="0"/>
                <a:cs typeface="Times New Roman" panose="02020603050405020304" pitchFamily="18" charset="0"/>
              </a:rPr>
              <a:t>trọng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pretrained,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Fully Connected </a:t>
            </a:r>
            <a:r>
              <a:rPr lang="en-US" dirty="0" err="1">
                <a:latin typeface="Times New Roman" panose="02020603050405020304" pitchFamily="18" charset="0"/>
                <a:cs typeface="Times New Roman" panose="02020603050405020304" pitchFamily="18" charset="0"/>
              </a:rPr>
              <a:t>cuối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nút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(NORMAL/PNEUMONIA).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Cross-Entropy Loss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Adam Optimizer.</a:t>
            </a:r>
          </a:p>
        </p:txBody>
      </p:sp>
    </p:spTree>
    <p:extLst>
      <p:ext uri="{BB962C8B-B14F-4D97-AF65-F5344CB8AC3E}">
        <p14:creationId xmlns:p14="http://schemas.microsoft.com/office/powerpoint/2010/main" val="2482298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2155ED9-DFD0-F982-24A9-75708444D7B2}"/>
              </a:ext>
            </a:extLst>
          </p:cNvPr>
          <p:cNvSpPr>
            <a:spLocks noGrp="1"/>
          </p:cNvSpPr>
          <p:nvPr>
            <p:ph type="title"/>
          </p:nvPr>
        </p:nvSpPr>
        <p:spPr>
          <a:xfrm>
            <a:off x="899414" y="228600"/>
            <a:ext cx="7345172" cy="536172"/>
          </a:xfrm>
        </p:spPr>
        <p:txBody>
          <a:bodyPr/>
          <a:lstStyle/>
          <a:p>
            <a:pPr marL="0" indent="0">
              <a:lnSpc>
                <a:spcPts val="4650"/>
              </a:lnSpc>
            </a:pPr>
            <a:r>
              <a:rPr lang="en-US" sz="2400" dirty="0">
                <a:latin typeface="Times New Roman" panose="02020603050405020304" pitchFamily="18" charset="0"/>
                <a:ea typeface="Red Hat Text" pitchFamily="34" charset="-122"/>
                <a:cs typeface="Times New Roman" panose="02020603050405020304" pitchFamily="18" charset="0"/>
              </a:rPr>
              <a:t>KẾT QUẢ HUẤN LUYỆN MÔ HÌNH</a:t>
            </a:r>
            <a:endParaRPr lang="en-US" sz="2400" dirty="0">
              <a:latin typeface="Times New Roman" panose="02020603050405020304" pitchFamily="18" charset="0"/>
              <a:cs typeface="Times New Roman" panose="02020603050405020304" pitchFamily="18" charset="0"/>
            </a:endParaRPr>
          </a:p>
        </p:txBody>
      </p:sp>
      <p:sp>
        <p:nvSpPr>
          <p:cNvPr id="28" name="Hộp Văn bản 27">
            <a:extLst>
              <a:ext uri="{FF2B5EF4-FFF2-40B4-BE49-F238E27FC236}">
                <a16:creationId xmlns:a16="http://schemas.microsoft.com/office/drawing/2014/main" id="{FA111223-4682-E5DB-6CC9-D2A104DF00C6}"/>
              </a:ext>
            </a:extLst>
          </p:cNvPr>
          <p:cNvSpPr txBox="1"/>
          <p:nvPr/>
        </p:nvSpPr>
        <p:spPr>
          <a:xfrm>
            <a:off x="228600" y="1184865"/>
            <a:ext cx="8915400" cy="732508"/>
          </a:xfrm>
          <a:prstGeom prst="rect">
            <a:avLst/>
          </a:prstGeom>
          <a:noFill/>
        </p:spPr>
        <p:txBody>
          <a:bodyPr wrap="square">
            <a:spAutoFit/>
          </a:bodyPr>
          <a:lstStyle/>
          <a:p>
            <a:pPr marL="0" indent="0" algn="l">
              <a:lnSpc>
                <a:spcPts val="2550"/>
              </a:lnSpc>
              <a:buNone/>
            </a:pPr>
            <a:r>
              <a:rPr lang="vi-VN"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Mô</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hình</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được</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huấn</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luyện</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trong</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40 epoch.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Quá</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trình</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hội</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tụ</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diễn</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ra</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rất</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nhanh</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nhờ</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Transfer Learning.</a:t>
            </a:r>
            <a:endParaRPr lang="en-US" sz="1800" dirty="0">
              <a:latin typeface="Times New Roman" panose="02020603050405020304" pitchFamily="18" charset="0"/>
              <a:cs typeface="Times New Roman" panose="02020603050405020304" pitchFamily="18" charset="0"/>
            </a:endParaRPr>
          </a:p>
        </p:txBody>
      </p:sp>
      <p:sp>
        <p:nvSpPr>
          <p:cNvPr id="30" name="Shape 2">
            <a:extLst>
              <a:ext uri="{FF2B5EF4-FFF2-40B4-BE49-F238E27FC236}">
                <a16:creationId xmlns:a16="http://schemas.microsoft.com/office/drawing/2014/main" id="{5061E2B0-FFBF-8B60-F078-B46736DCF6F8}"/>
              </a:ext>
            </a:extLst>
          </p:cNvPr>
          <p:cNvSpPr/>
          <p:nvPr/>
        </p:nvSpPr>
        <p:spPr>
          <a:xfrm>
            <a:off x="4528006" y="2242296"/>
            <a:ext cx="81060" cy="4615704"/>
          </a:xfrm>
          <a:prstGeom prst="roundRect">
            <a:avLst>
              <a:gd name="adj" fmla="val 133126"/>
            </a:avLst>
          </a:prstGeom>
          <a:solidFill>
            <a:srgbClr val="D9CECE"/>
          </a:solidFill>
          <a:ln/>
        </p:spPr>
      </p:sp>
      <p:sp>
        <p:nvSpPr>
          <p:cNvPr id="32" name="Hộp Văn bản 31">
            <a:extLst>
              <a:ext uri="{FF2B5EF4-FFF2-40B4-BE49-F238E27FC236}">
                <a16:creationId xmlns:a16="http://schemas.microsoft.com/office/drawing/2014/main" id="{48796E48-0F53-826A-6DA2-BA59F7F7DE10}"/>
              </a:ext>
            </a:extLst>
          </p:cNvPr>
          <p:cNvSpPr txBox="1"/>
          <p:nvPr/>
        </p:nvSpPr>
        <p:spPr>
          <a:xfrm>
            <a:off x="2717371" y="1866410"/>
            <a:ext cx="1276916" cy="361637"/>
          </a:xfrm>
          <a:prstGeom prst="rect">
            <a:avLst/>
          </a:prstGeom>
          <a:noFill/>
        </p:spPr>
        <p:txBody>
          <a:bodyPr wrap="square">
            <a:spAutoFit/>
          </a:bodyPr>
          <a:lstStyle/>
          <a:p>
            <a:pPr marL="0" indent="0" algn="r">
              <a:lnSpc>
                <a:spcPts val="2300"/>
              </a:lnSpc>
              <a:buNone/>
            </a:pP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Epoch 01</a:t>
            </a:r>
            <a:endParaRPr lang="en-US" sz="1600" b="1" dirty="0">
              <a:latin typeface="Times New Roman" panose="02020603050405020304" pitchFamily="18" charset="0"/>
              <a:cs typeface="Times New Roman" panose="02020603050405020304" pitchFamily="18" charset="0"/>
            </a:endParaRPr>
          </a:p>
        </p:txBody>
      </p:sp>
      <p:sp>
        <p:nvSpPr>
          <p:cNvPr id="33" name="Shape 3">
            <a:extLst>
              <a:ext uri="{FF2B5EF4-FFF2-40B4-BE49-F238E27FC236}">
                <a16:creationId xmlns:a16="http://schemas.microsoft.com/office/drawing/2014/main" id="{239B32C9-B0B4-8DB4-AC30-29B126E96450}"/>
              </a:ext>
            </a:extLst>
          </p:cNvPr>
          <p:cNvSpPr/>
          <p:nvPr/>
        </p:nvSpPr>
        <p:spPr>
          <a:xfrm>
            <a:off x="3980432" y="2040467"/>
            <a:ext cx="433087" cy="45719"/>
          </a:xfrm>
          <a:prstGeom prst="roundRect">
            <a:avLst>
              <a:gd name="adj" fmla="val 133126"/>
            </a:avLst>
          </a:prstGeom>
          <a:solidFill>
            <a:srgbClr val="D9CECE"/>
          </a:solidFill>
          <a:ln/>
        </p:spPr>
      </p:sp>
      <p:sp>
        <p:nvSpPr>
          <p:cNvPr id="29" name="Shape 4">
            <a:extLst>
              <a:ext uri="{FF2B5EF4-FFF2-40B4-BE49-F238E27FC236}">
                <a16:creationId xmlns:a16="http://schemas.microsoft.com/office/drawing/2014/main" id="{62C8480B-AFC0-402B-D0E5-3CF312772F2C}"/>
              </a:ext>
            </a:extLst>
          </p:cNvPr>
          <p:cNvSpPr/>
          <p:nvPr/>
        </p:nvSpPr>
        <p:spPr>
          <a:xfrm>
            <a:off x="4374736" y="1835084"/>
            <a:ext cx="456486" cy="456486"/>
          </a:xfrm>
          <a:prstGeom prst="roundRect">
            <a:avLst>
              <a:gd name="adj" fmla="val 6667"/>
            </a:avLst>
          </a:prstGeom>
          <a:solidFill>
            <a:srgbClr val="F3E8E8"/>
          </a:solidFill>
          <a:ln/>
        </p:spPr>
        <p:txBody>
          <a:bodyPr/>
          <a:lstStyle/>
          <a:p>
            <a:pPr algn="ctr"/>
            <a:r>
              <a:rPr lang="vi-VN" dirty="0"/>
              <a:t>1</a:t>
            </a:r>
            <a:endParaRPr lang="en-US" dirty="0"/>
          </a:p>
        </p:txBody>
      </p:sp>
      <p:sp>
        <p:nvSpPr>
          <p:cNvPr id="35" name="Hộp Văn bản 34">
            <a:extLst>
              <a:ext uri="{FF2B5EF4-FFF2-40B4-BE49-F238E27FC236}">
                <a16:creationId xmlns:a16="http://schemas.microsoft.com/office/drawing/2014/main" id="{D24FA84F-1374-40B1-05B9-B76C5D27606F}"/>
              </a:ext>
            </a:extLst>
          </p:cNvPr>
          <p:cNvSpPr txBox="1"/>
          <p:nvPr/>
        </p:nvSpPr>
        <p:spPr>
          <a:xfrm>
            <a:off x="11587" y="2232536"/>
            <a:ext cx="3982699" cy="717953"/>
          </a:xfrm>
          <a:prstGeom prst="rect">
            <a:avLst/>
          </a:prstGeom>
          <a:noFill/>
        </p:spPr>
        <p:txBody>
          <a:bodyPr wrap="square">
            <a:spAutoFit/>
          </a:bodyPr>
          <a:lstStyle/>
          <a:p>
            <a:pPr marL="0" indent="0" algn="r">
              <a:lnSpc>
                <a:spcPts val="2550"/>
              </a:lnSpc>
              <a:buNone/>
            </a:pP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Khởi</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đầu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mạnh</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mẽ</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Train Acc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đạt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86.60%, Val Acc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đạt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81.25%. Train Loss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giảm</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nhanh</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chóng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từ</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0.4214.</a:t>
            </a:r>
            <a:endParaRPr lang="en-US" sz="1400" dirty="0">
              <a:latin typeface="Times New Roman" panose="02020603050405020304" pitchFamily="18" charset="0"/>
              <a:cs typeface="Times New Roman" panose="02020603050405020304" pitchFamily="18" charset="0"/>
            </a:endParaRPr>
          </a:p>
        </p:txBody>
      </p:sp>
      <p:sp>
        <p:nvSpPr>
          <p:cNvPr id="36" name="Shape 8">
            <a:extLst>
              <a:ext uri="{FF2B5EF4-FFF2-40B4-BE49-F238E27FC236}">
                <a16:creationId xmlns:a16="http://schemas.microsoft.com/office/drawing/2014/main" id="{207ABECA-B521-A272-4EC6-8072D7FB94DA}"/>
              </a:ext>
            </a:extLst>
          </p:cNvPr>
          <p:cNvSpPr/>
          <p:nvPr/>
        </p:nvSpPr>
        <p:spPr>
          <a:xfrm>
            <a:off x="4736671" y="3124202"/>
            <a:ext cx="456486" cy="45719"/>
          </a:xfrm>
          <a:prstGeom prst="roundRect">
            <a:avLst>
              <a:gd name="adj" fmla="val 133126"/>
            </a:avLst>
          </a:prstGeom>
          <a:solidFill>
            <a:srgbClr val="D9CECE"/>
          </a:solidFill>
          <a:ln/>
        </p:spPr>
      </p:sp>
      <p:sp>
        <p:nvSpPr>
          <p:cNvPr id="38" name="Shape 4">
            <a:extLst>
              <a:ext uri="{FF2B5EF4-FFF2-40B4-BE49-F238E27FC236}">
                <a16:creationId xmlns:a16="http://schemas.microsoft.com/office/drawing/2014/main" id="{E4ECDB9C-F1A5-C61E-CE92-37AF4B747211}"/>
              </a:ext>
            </a:extLst>
          </p:cNvPr>
          <p:cNvSpPr/>
          <p:nvPr/>
        </p:nvSpPr>
        <p:spPr>
          <a:xfrm>
            <a:off x="4374736" y="2920779"/>
            <a:ext cx="456486" cy="456486"/>
          </a:xfrm>
          <a:prstGeom prst="roundRect">
            <a:avLst>
              <a:gd name="adj" fmla="val 6667"/>
            </a:avLst>
          </a:prstGeom>
          <a:solidFill>
            <a:srgbClr val="F3E8E8"/>
          </a:solidFill>
          <a:ln/>
        </p:spPr>
        <p:txBody>
          <a:bodyPr/>
          <a:lstStyle/>
          <a:p>
            <a:pPr algn="ctr"/>
            <a:r>
              <a:rPr lang="vi-VN" dirty="0"/>
              <a:t>2</a:t>
            </a:r>
            <a:endParaRPr lang="en-US" dirty="0"/>
          </a:p>
        </p:txBody>
      </p:sp>
      <p:sp>
        <p:nvSpPr>
          <p:cNvPr id="39" name="Text 11">
            <a:extLst>
              <a:ext uri="{FF2B5EF4-FFF2-40B4-BE49-F238E27FC236}">
                <a16:creationId xmlns:a16="http://schemas.microsoft.com/office/drawing/2014/main" id="{22787451-D174-EA54-0952-4E5FED0DCFE9}"/>
              </a:ext>
            </a:extLst>
          </p:cNvPr>
          <p:cNvSpPr/>
          <p:nvPr/>
        </p:nvSpPr>
        <p:spPr>
          <a:xfrm>
            <a:off x="5270391" y="2975016"/>
            <a:ext cx="2386846" cy="298371"/>
          </a:xfrm>
          <a:prstGeom prst="rect">
            <a:avLst/>
          </a:prstGeom>
          <a:noFill/>
          <a:ln/>
        </p:spPr>
        <p:txBody>
          <a:bodyPr wrap="none" lIns="0" tIns="0" rIns="0" bIns="0" rtlCol="0" anchor="t"/>
          <a:lstStyle/>
          <a:p>
            <a:pPr marL="0" indent="0" algn="l">
              <a:lnSpc>
                <a:spcPts val="2300"/>
              </a:lnSpc>
              <a:buNone/>
            </a:pP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Epoch 11 &amp; 19</a:t>
            </a:r>
            <a:endParaRPr lang="en-US" sz="1600" b="1" dirty="0">
              <a:latin typeface="Times New Roman" panose="02020603050405020304" pitchFamily="18" charset="0"/>
              <a:cs typeface="Times New Roman" panose="02020603050405020304" pitchFamily="18" charset="0"/>
            </a:endParaRPr>
          </a:p>
        </p:txBody>
      </p:sp>
      <p:sp>
        <p:nvSpPr>
          <p:cNvPr id="41" name="Hộp Văn bản 40">
            <a:extLst>
              <a:ext uri="{FF2B5EF4-FFF2-40B4-BE49-F238E27FC236}">
                <a16:creationId xmlns:a16="http://schemas.microsoft.com/office/drawing/2014/main" id="{CA0AA09E-59F6-877E-C606-7023BBCE5E05}"/>
              </a:ext>
            </a:extLst>
          </p:cNvPr>
          <p:cNvSpPr txBox="1"/>
          <p:nvPr/>
        </p:nvSpPr>
        <p:spPr>
          <a:xfrm>
            <a:off x="5193156" y="3232661"/>
            <a:ext cx="4001215" cy="1051378"/>
          </a:xfrm>
          <a:prstGeom prst="rect">
            <a:avLst/>
          </a:prstGeom>
          <a:noFill/>
        </p:spPr>
        <p:txBody>
          <a:bodyPr wrap="square">
            <a:spAutoFit/>
          </a:bodyPr>
          <a:lstStyle/>
          <a:p>
            <a:pPr marL="0" indent="0" algn="l">
              <a:lnSpc>
                <a:spcPts val="2550"/>
              </a:lnSpc>
              <a:buNone/>
            </a:pPr>
            <a:r>
              <a:rPr lang="en-US" sz="1400" dirty="0" err="1">
                <a:solidFill>
                  <a:srgbClr val="F5A3A3"/>
                </a:solidFill>
                <a:latin typeface="Times New Roman" panose="02020603050405020304" pitchFamily="18" charset="0"/>
                <a:ea typeface="Roboto Light" pitchFamily="34" charset="-122"/>
                <a:cs typeface="Times New Roman" panose="02020603050405020304" pitchFamily="18" charset="0"/>
              </a:rPr>
              <a:t>Đạt</a:t>
            </a:r>
            <a:r>
              <a:rPr lang="en-US" sz="1400" dirty="0">
                <a:solidFill>
                  <a:srgbClr val="F5A3A3"/>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F5A3A3"/>
                </a:solidFill>
                <a:latin typeface="Times New Roman" panose="02020603050405020304" pitchFamily="18" charset="0"/>
                <a:ea typeface="Roboto Light" pitchFamily="34" charset="-122"/>
                <a:cs typeface="Times New Roman" panose="02020603050405020304" pitchFamily="18" charset="0"/>
              </a:rPr>
              <a:t>đỉnh</a:t>
            </a:r>
            <a:r>
              <a:rPr lang="en-US" sz="1400" dirty="0">
                <a:solidFill>
                  <a:srgbClr val="F5A3A3"/>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F5A3A3"/>
                </a:solidFill>
                <a:latin typeface="Times New Roman" panose="02020603050405020304" pitchFamily="18" charset="0"/>
                <a:ea typeface="Roboto Light" pitchFamily="34" charset="-122"/>
                <a:cs typeface="Times New Roman" panose="02020603050405020304" pitchFamily="18" charset="0"/>
              </a:rPr>
              <a:t>hiệu</a:t>
            </a:r>
            <a:r>
              <a:rPr lang="en-US" sz="1400" dirty="0">
                <a:solidFill>
                  <a:srgbClr val="F5A3A3"/>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F5A3A3"/>
                </a:solidFill>
                <a:latin typeface="Times New Roman" panose="02020603050405020304" pitchFamily="18" charset="0"/>
                <a:ea typeface="Roboto Light" pitchFamily="34" charset="-122"/>
                <a:cs typeface="Times New Roman" panose="02020603050405020304" pitchFamily="18" charset="0"/>
              </a:rPr>
              <a:t>suất</a:t>
            </a:r>
            <a:r>
              <a:rPr lang="en-US" sz="1400" dirty="0">
                <a:solidFill>
                  <a:srgbClr val="F5A3A3"/>
                </a:solidFill>
                <a:latin typeface="Times New Roman" panose="02020603050405020304" pitchFamily="18" charset="0"/>
                <a:ea typeface="Roboto Light" pitchFamily="34" charset="-122"/>
                <a:cs typeface="Times New Roman" panose="02020603050405020304" pitchFamily="18" charset="0"/>
              </a:rPr>
              <a: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Val Acc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đạt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mức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tuyệt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đối</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b="1" dirty="0">
                <a:solidFill>
                  <a:srgbClr val="3B3535"/>
                </a:solidFill>
                <a:latin typeface="Times New Roman" panose="02020603050405020304" pitchFamily="18" charset="0"/>
                <a:ea typeface="Roboto Light" pitchFamily="34" charset="-122"/>
                <a:cs typeface="Times New Roman" panose="02020603050405020304" pitchFamily="18" charset="0"/>
              </a:rPr>
              <a:t>100.00%</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Mô</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hình</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tại</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thời</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điểm</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này</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được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lưu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lại</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làm</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"best model".</a:t>
            </a:r>
            <a:endParaRPr lang="en-US" sz="1400" dirty="0">
              <a:latin typeface="Times New Roman" panose="02020603050405020304" pitchFamily="18" charset="0"/>
              <a:cs typeface="Times New Roman" panose="02020603050405020304" pitchFamily="18" charset="0"/>
            </a:endParaRPr>
          </a:p>
        </p:txBody>
      </p:sp>
      <p:sp>
        <p:nvSpPr>
          <p:cNvPr id="43" name="Hộp Văn bản 42">
            <a:extLst>
              <a:ext uri="{FF2B5EF4-FFF2-40B4-BE49-F238E27FC236}">
                <a16:creationId xmlns:a16="http://schemas.microsoft.com/office/drawing/2014/main" id="{85EB583F-3A5E-656E-4459-E29BA245140E}"/>
              </a:ext>
            </a:extLst>
          </p:cNvPr>
          <p:cNvSpPr txBox="1"/>
          <p:nvPr/>
        </p:nvSpPr>
        <p:spPr>
          <a:xfrm>
            <a:off x="2412572" y="4239817"/>
            <a:ext cx="1584206" cy="361637"/>
          </a:xfrm>
          <a:prstGeom prst="rect">
            <a:avLst/>
          </a:prstGeom>
          <a:noFill/>
        </p:spPr>
        <p:txBody>
          <a:bodyPr wrap="square">
            <a:spAutoFit/>
          </a:bodyPr>
          <a:lstStyle/>
          <a:p>
            <a:pPr marL="0" indent="0" algn="r">
              <a:lnSpc>
                <a:spcPts val="2300"/>
              </a:lnSpc>
              <a:buNone/>
            </a:pP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Sau Epoch 20</a:t>
            </a:r>
            <a:endParaRPr lang="en-US" sz="1600" b="1" dirty="0">
              <a:latin typeface="Times New Roman" panose="02020603050405020304" pitchFamily="18" charset="0"/>
              <a:cs typeface="Times New Roman" panose="02020603050405020304" pitchFamily="18" charset="0"/>
            </a:endParaRPr>
          </a:p>
        </p:txBody>
      </p:sp>
      <p:sp>
        <p:nvSpPr>
          <p:cNvPr id="45" name="Shape 3">
            <a:extLst>
              <a:ext uri="{FF2B5EF4-FFF2-40B4-BE49-F238E27FC236}">
                <a16:creationId xmlns:a16="http://schemas.microsoft.com/office/drawing/2014/main" id="{46AE0EFF-B473-C86A-DB0E-A037863D5BF4}"/>
              </a:ext>
            </a:extLst>
          </p:cNvPr>
          <p:cNvSpPr/>
          <p:nvPr/>
        </p:nvSpPr>
        <p:spPr>
          <a:xfrm>
            <a:off x="3969213" y="4423638"/>
            <a:ext cx="433087" cy="45719"/>
          </a:xfrm>
          <a:prstGeom prst="roundRect">
            <a:avLst>
              <a:gd name="adj" fmla="val 133126"/>
            </a:avLst>
          </a:prstGeom>
          <a:solidFill>
            <a:srgbClr val="D9CECE"/>
          </a:solidFill>
          <a:ln/>
        </p:spPr>
      </p:sp>
      <p:sp>
        <p:nvSpPr>
          <p:cNvPr id="47" name="Hộp Văn bản 46">
            <a:extLst>
              <a:ext uri="{FF2B5EF4-FFF2-40B4-BE49-F238E27FC236}">
                <a16:creationId xmlns:a16="http://schemas.microsoft.com/office/drawing/2014/main" id="{60FAD8F8-C18A-F4EC-81F7-442BA4F8D989}"/>
              </a:ext>
            </a:extLst>
          </p:cNvPr>
          <p:cNvSpPr txBox="1"/>
          <p:nvPr/>
        </p:nvSpPr>
        <p:spPr>
          <a:xfrm>
            <a:off x="11586" y="4507769"/>
            <a:ext cx="3982700" cy="1057341"/>
          </a:xfrm>
          <a:prstGeom prst="rect">
            <a:avLst/>
          </a:prstGeom>
          <a:noFill/>
        </p:spPr>
        <p:txBody>
          <a:bodyPr wrap="square">
            <a:spAutoFit/>
          </a:bodyPr>
          <a:lstStyle/>
          <a:p>
            <a:pPr marL="0" indent="0" algn="r">
              <a:lnSpc>
                <a:spcPts val="2550"/>
              </a:lnSpc>
              <a:buNone/>
            </a:pP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Dấu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hiệu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Quá</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Khớp</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(Overfitting): Train Acc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tiếp</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tục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tăng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gần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99.40%),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nhưng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Val Acc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bắt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đầu</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giảm</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và</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dao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động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mạnh</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chỉ</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còn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81.25%–87.50%).</a:t>
            </a:r>
            <a:endParaRPr lang="en-US" sz="1400" dirty="0">
              <a:latin typeface="Times New Roman" panose="02020603050405020304" pitchFamily="18" charset="0"/>
              <a:cs typeface="Times New Roman" panose="02020603050405020304" pitchFamily="18" charset="0"/>
            </a:endParaRPr>
          </a:p>
        </p:txBody>
      </p:sp>
      <p:sp>
        <p:nvSpPr>
          <p:cNvPr id="50" name="Hộp Văn bản 49">
            <a:extLst>
              <a:ext uri="{FF2B5EF4-FFF2-40B4-BE49-F238E27FC236}">
                <a16:creationId xmlns:a16="http://schemas.microsoft.com/office/drawing/2014/main" id="{A0D29AE3-0DDB-7844-2DAD-6988FCA38464}"/>
              </a:ext>
            </a:extLst>
          </p:cNvPr>
          <p:cNvSpPr txBox="1"/>
          <p:nvPr/>
        </p:nvSpPr>
        <p:spPr>
          <a:xfrm>
            <a:off x="5243528" y="5382047"/>
            <a:ext cx="1032163" cy="366126"/>
          </a:xfrm>
          <a:prstGeom prst="rect">
            <a:avLst/>
          </a:prstGeom>
          <a:noFill/>
        </p:spPr>
        <p:txBody>
          <a:bodyPr wrap="square">
            <a:spAutoFit/>
          </a:bodyPr>
          <a:lstStyle/>
          <a:p>
            <a:pPr marL="0" indent="0" algn="l">
              <a:lnSpc>
                <a:spcPts val="2300"/>
              </a:lnSpc>
              <a:buNone/>
            </a:pPr>
            <a:r>
              <a:rPr lang="en-US" sz="1600" b="1" dirty="0">
                <a:solidFill>
                  <a:srgbClr val="3B3535"/>
                </a:solidFill>
                <a:latin typeface="Times New Roman" panose="02020603050405020304" pitchFamily="18" charset="0"/>
                <a:ea typeface="Red Hat Text" pitchFamily="34" charset="-122"/>
                <a:cs typeface="Times New Roman" panose="02020603050405020304" pitchFamily="18" charset="0"/>
              </a:rPr>
              <a:t>Epoch 40</a:t>
            </a:r>
            <a:endParaRPr lang="en-US" sz="1600" b="1" dirty="0">
              <a:latin typeface="Times New Roman" panose="02020603050405020304" pitchFamily="18" charset="0"/>
              <a:cs typeface="Times New Roman" panose="02020603050405020304" pitchFamily="18" charset="0"/>
            </a:endParaRPr>
          </a:p>
        </p:txBody>
      </p:sp>
      <p:sp>
        <p:nvSpPr>
          <p:cNvPr id="51" name="Shape 3">
            <a:extLst>
              <a:ext uri="{FF2B5EF4-FFF2-40B4-BE49-F238E27FC236}">
                <a16:creationId xmlns:a16="http://schemas.microsoft.com/office/drawing/2014/main" id="{26EA5489-96E5-9B36-977B-5E83D0523202}"/>
              </a:ext>
            </a:extLst>
          </p:cNvPr>
          <p:cNvSpPr/>
          <p:nvPr/>
        </p:nvSpPr>
        <p:spPr>
          <a:xfrm>
            <a:off x="4816334" y="5581149"/>
            <a:ext cx="433087" cy="45719"/>
          </a:xfrm>
          <a:prstGeom prst="roundRect">
            <a:avLst>
              <a:gd name="adj" fmla="val 133126"/>
            </a:avLst>
          </a:prstGeom>
          <a:solidFill>
            <a:srgbClr val="D9CECE"/>
          </a:solidFill>
          <a:ln/>
        </p:spPr>
      </p:sp>
      <p:sp>
        <p:nvSpPr>
          <p:cNvPr id="48" name="Shape 4">
            <a:extLst>
              <a:ext uri="{FF2B5EF4-FFF2-40B4-BE49-F238E27FC236}">
                <a16:creationId xmlns:a16="http://schemas.microsoft.com/office/drawing/2014/main" id="{7A3B29F1-17AC-74D1-568A-1A3CF2DC9C50}"/>
              </a:ext>
            </a:extLst>
          </p:cNvPr>
          <p:cNvSpPr/>
          <p:nvPr/>
        </p:nvSpPr>
        <p:spPr>
          <a:xfrm>
            <a:off x="4402300" y="5397349"/>
            <a:ext cx="456486" cy="456486"/>
          </a:xfrm>
          <a:prstGeom prst="roundRect">
            <a:avLst>
              <a:gd name="adj" fmla="val 6667"/>
            </a:avLst>
          </a:prstGeom>
          <a:solidFill>
            <a:srgbClr val="F3E8E8"/>
          </a:solidFill>
          <a:ln/>
        </p:spPr>
        <p:txBody>
          <a:bodyPr/>
          <a:lstStyle/>
          <a:p>
            <a:pPr algn="ctr"/>
            <a:r>
              <a:rPr lang="vi-VN" dirty="0"/>
              <a:t>4</a:t>
            </a:r>
            <a:endParaRPr lang="en-US" dirty="0"/>
          </a:p>
        </p:txBody>
      </p:sp>
      <p:sp>
        <p:nvSpPr>
          <p:cNvPr id="44" name="Shape 4">
            <a:extLst>
              <a:ext uri="{FF2B5EF4-FFF2-40B4-BE49-F238E27FC236}">
                <a16:creationId xmlns:a16="http://schemas.microsoft.com/office/drawing/2014/main" id="{37AE1468-C1B4-B453-86A6-882F01B6A303}"/>
              </a:ext>
            </a:extLst>
          </p:cNvPr>
          <p:cNvSpPr/>
          <p:nvPr/>
        </p:nvSpPr>
        <p:spPr>
          <a:xfrm>
            <a:off x="4374736" y="4209897"/>
            <a:ext cx="456486" cy="456486"/>
          </a:xfrm>
          <a:prstGeom prst="roundRect">
            <a:avLst>
              <a:gd name="adj" fmla="val 6667"/>
            </a:avLst>
          </a:prstGeom>
          <a:solidFill>
            <a:srgbClr val="F3E8E8"/>
          </a:solidFill>
          <a:ln/>
        </p:spPr>
        <p:txBody>
          <a:bodyPr/>
          <a:lstStyle/>
          <a:p>
            <a:pPr algn="ctr"/>
            <a:r>
              <a:rPr lang="vi-VN" dirty="0"/>
              <a:t>3</a:t>
            </a:r>
            <a:endParaRPr lang="en-US" dirty="0"/>
          </a:p>
        </p:txBody>
      </p:sp>
      <p:sp>
        <p:nvSpPr>
          <p:cNvPr id="53" name="Hộp Văn bản 52">
            <a:extLst>
              <a:ext uri="{FF2B5EF4-FFF2-40B4-BE49-F238E27FC236}">
                <a16:creationId xmlns:a16="http://schemas.microsoft.com/office/drawing/2014/main" id="{D02E13A3-CCC9-8540-6376-3B945808ADD4}"/>
              </a:ext>
            </a:extLst>
          </p:cNvPr>
          <p:cNvSpPr txBox="1"/>
          <p:nvPr/>
        </p:nvSpPr>
        <p:spPr>
          <a:xfrm>
            <a:off x="5243528" y="5673135"/>
            <a:ext cx="4001215" cy="1065933"/>
          </a:xfrm>
          <a:prstGeom prst="rect">
            <a:avLst/>
          </a:prstGeom>
          <a:noFill/>
        </p:spPr>
        <p:txBody>
          <a:bodyPr wrap="square">
            <a:spAutoFit/>
          </a:bodyPr>
          <a:lstStyle/>
          <a:p>
            <a:pPr marL="0" indent="0" algn="l">
              <a:lnSpc>
                <a:spcPts val="2550"/>
              </a:lnSpc>
              <a:buNone/>
            </a:pP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Hoàn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tất</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huấn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luyện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Train Loss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giảm</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còn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0.2106.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Khoảng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cách</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lớn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giữa</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Train Acc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và</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Val Acc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xác</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nhận</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overfitting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nghiêm</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400" dirty="0" err="1">
                <a:solidFill>
                  <a:srgbClr val="3B3535"/>
                </a:solidFill>
                <a:latin typeface="Times New Roman" panose="02020603050405020304" pitchFamily="18" charset="0"/>
                <a:ea typeface="Roboto Light" pitchFamily="34" charset="-122"/>
                <a:cs typeface="Times New Roman" panose="02020603050405020304" pitchFamily="18" charset="0"/>
              </a:rPr>
              <a:t>trọng</a:t>
            </a:r>
            <a:r>
              <a:rPr lang="en-US" sz="1400" dirty="0">
                <a:solidFill>
                  <a:srgbClr val="3B3535"/>
                </a:solidFill>
                <a:latin typeface="Times New Roman" panose="02020603050405020304" pitchFamily="18" charset="0"/>
                <a:ea typeface="Roboto Light"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7388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303A498-C3B4-5FCD-F642-32C1BEDA2D4E}"/>
              </a:ext>
            </a:extLst>
          </p:cNvPr>
          <p:cNvSpPr>
            <a:spLocks noGrp="1"/>
          </p:cNvSpPr>
          <p:nvPr>
            <p:ph type="title"/>
          </p:nvPr>
        </p:nvSpPr>
        <p:spPr>
          <a:xfrm>
            <a:off x="762000" y="304800"/>
            <a:ext cx="7345172" cy="430887"/>
          </a:xfrm>
        </p:spPr>
        <p:txBody>
          <a:bodyPr/>
          <a:lstStyle/>
          <a:p>
            <a:r>
              <a:rPr lang="en-US" sz="2800" dirty="0"/>
              <a:t>PHÂN TÍCH BIỂU ĐỒ LOSS</a:t>
            </a:r>
          </a:p>
        </p:txBody>
      </p:sp>
      <p:pic>
        <p:nvPicPr>
          <p:cNvPr id="4" name="Image 0" descr="preencoded.png">
            <a:extLst>
              <a:ext uri="{FF2B5EF4-FFF2-40B4-BE49-F238E27FC236}">
                <a16:creationId xmlns:a16="http://schemas.microsoft.com/office/drawing/2014/main" id="{3206328C-80CB-93E2-4492-8E3781016EA8}"/>
              </a:ext>
            </a:extLst>
          </p:cNvPr>
          <p:cNvPicPr>
            <a:picLocks noChangeAspect="1"/>
          </p:cNvPicPr>
          <p:nvPr/>
        </p:nvPicPr>
        <p:blipFill>
          <a:blip r:embed="rId2"/>
          <a:stretch>
            <a:fillRect/>
          </a:stretch>
        </p:blipFill>
        <p:spPr>
          <a:xfrm>
            <a:off x="1344744" y="1219200"/>
            <a:ext cx="6454511" cy="430887"/>
          </a:xfrm>
          <a:prstGeom prst="rect">
            <a:avLst/>
          </a:prstGeom>
        </p:spPr>
      </p:pic>
      <p:sp>
        <p:nvSpPr>
          <p:cNvPr id="6" name="Hộp Văn bản 5">
            <a:extLst>
              <a:ext uri="{FF2B5EF4-FFF2-40B4-BE49-F238E27FC236}">
                <a16:creationId xmlns:a16="http://schemas.microsoft.com/office/drawing/2014/main" id="{2450ADFC-C34D-4EE4-835E-FCA5BE95CC54}"/>
              </a:ext>
            </a:extLst>
          </p:cNvPr>
          <p:cNvSpPr txBox="1"/>
          <p:nvPr/>
        </p:nvSpPr>
        <p:spPr>
          <a:xfrm>
            <a:off x="317523" y="2743200"/>
            <a:ext cx="3657600" cy="2120068"/>
          </a:xfrm>
          <a:prstGeom prst="rect">
            <a:avLst/>
          </a:prstGeom>
          <a:noFill/>
        </p:spPr>
        <p:txBody>
          <a:bodyPr wrap="square">
            <a:spAutoFit/>
          </a:bodyPr>
          <a:lstStyle/>
          <a:p>
            <a:pPr marL="0" indent="0" algn="l">
              <a:lnSpc>
                <a:spcPct val="150000"/>
              </a:lnSpc>
              <a:buNone/>
            </a:pPr>
            <a:r>
              <a:rPr lang="vi-VN"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Loss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giảm</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rất</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mạnh</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trong</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10 epoch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đầu</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sau</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đó</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giảm</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chậm</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và</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ổn</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định</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ở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mức</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~0.20.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Quá</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trình</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tối</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ưu</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hóa</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hoạt</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động</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hiệu</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quả</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không</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có</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hiện</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tượng</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thiếu</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dirty="0" err="1">
                <a:solidFill>
                  <a:srgbClr val="3B3535"/>
                </a:solidFill>
                <a:latin typeface="Times New Roman" panose="02020603050405020304" pitchFamily="18" charset="0"/>
                <a:ea typeface="Roboto Light" pitchFamily="34" charset="-122"/>
                <a:cs typeface="Times New Roman" panose="02020603050405020304" pitchFamily="18" charset="0"/>
              </a:rPr>
              <a:t>khớp</a:t>
            </a:r>
            <a:r>
              <a:rPr lang="en-US" sz="1800" dirty="0">
                <a:solidFill>
                  <a:srgbClr val="3B3535"/>
                </a:solidFill>
                <a:latin typeface="Times New Roman" panose="02020603050405020304" pitchFamily="18" charset="0"/>
                <a:ea typeface="Roboto Light" pitchFamily="34" charset="-122"/>
                <a:cs typeface="Times New Roman" panose="02020603050405020304" pitchFamily="18" charset="0"/>
              </a:rPr>
              <a:t> (underfitting).</a:t>
            </a:r>
            <a:endParaRPr lang="en-US" sz="1800" dirty="0">
              <a:latin typeface="Times New Roman" panose="02020603050405020304" pitchFamily="18" charset="0"/>
              <a:cs typeface="Times New Roman" panose="02020603050405020304" pitchFamily="18" charset="0"/>
            </a:endParaRPr>
          </a:p>
        </p:txBody>
      </p:sp>
      <p:pic>
        <p:nvPicPr>
          <p:cNvPr id="10" name="Hình ảnh 9">
            <a:extLst>
              <a:ext uri="{FF2B5EF4-FFF2-40B4-BE49-F238E27FC236}">
                <a16:creationId xmlns:a16="http://schemas.microsoft.com/office/drawing/2014/main" id="{97CCD850-31BD-962F-CBD5-2C812A6CBFE6}"/>
              </a:ext>
            </a:extLst>
          </p:cNvPr>
          <p:cNvPicPr>
            <a:picLocks noChangeAspect="1"/>
          </p:cNvPicPr>
          <p:nvPr/>
        </p:nvPicPr>
        <p:blipFill>
          <a:blip r:embed="rId3"/>
          <a:stretch>
            <a:fillRect/>
          </a:stretch>
        </p:blipFill>
        <p:spPr>
          <a:xfrm>
            <a:off x="3932428" y="1981200"/>
            <a:ext cx="4851354" cy="3783845"/>
          </a:xfrm>
          <a:prstGeom prst="rect">
            <a:avLst/>
          </a:prstGeom>
        </p:spPr>
      </p:pic>
    </p:spTree>
    <p:extLst>
      <p:ext uri="{BB962C8B-B14F-4D97-AF65-F5344CB8AC3E}">
        <p14:creationId xmlns:p14="http://schemas.microsoft.com/office/powerpoint/2010/main" val="659392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07F1E2D-EC7E-0023-0CFA-61479A113218}"/>
              </a:ext>
            </a:extLst>
          </p:cNvPr>
          <p:cNvSpPr>
            <a:spLocks noGrp="1"/>
          </p:cNvSpPr>
          <p:nvPr>
            <p:ph type="title"/>
          </p:nvPr>
        </p:nvSpPr>
        <p:spPr>
          <a:xfrm>
            <a:off x="899414" y="304800"/>
            <a:ext cx="7345172" cy="430887"/>
          </a:xfrm>
        </p:spPr>
        <p:txBody>
          <a:bodyPr/>
          <a:lstStyle/>
          <a:p>
            <a:r>
              <a:rPr lang="en-US" sz="2800" dirty="0"/>
              <a:t>PHÂN TÍCH BIỂU ĐỒ ACCURACY</a:t>
            </a:r>
          </a:p>
        </p:txBody>
      </p:sp>
      <p:sp>
        <p:nvSpPr>
          <p:cNvPr id="3" name="Chỗ dành sẵn cho Văn bản 2">
            <a:extLst>
              <a:ext uri="{FF2B5EF4-FFF2-40B4-BE49-F238E27FC236}">
                <a16:creationId xmlns:a16="http://schemas.microsoft.com/office/drawing/2014/main" id="{23677044-3712-C271-32CB-F49AA2107264}"/>
              </a:ext>
            </a:extLst>
          </p:cNvPr>
          <p:cNvSpPr>
            <a:spLocks noGrp="1"/>
          </p:cNvSpPr>
          <p:nvPr>
            <p:ph type="body" idx="1"/>
          </p:nvPr>
        </p:nvSpPr>
        <p:spPr>
          <a:xfrm>
            <a:off x="368164" y="2743200"/>
            <a:ext cx="3684291" cy="2443233"/>
          </a:xfrm>
        </p:spPr>
        <p:txBody>
          <a:bodyPr/>
          <a:lstStyle/>
          <a:p>
            <a:pPr algn="l">
              <a:lnSpc>
                <a:spcPct val="150000"/>
              </a:lnSpc>
            </a:pPr>
            <a:r>
              <a:rPr lang="vi-VN"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Train Acc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tăng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liên</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tục</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đường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màu</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xanh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Val Acc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đường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màu</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cam)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đạt</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đỉnh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100%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sớm</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nhưng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sau</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đó</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giảm</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và</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dao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động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mạnh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Khoảng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cách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giữa</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hai</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đường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tăng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dần</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sau</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Epoch 20,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khẳng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định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mô</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hình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bị</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quá</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khớp</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a:t>
            </a:r>
            <a:endParaRPr lang="en-US" sz="1800" b="0" dirty="0">
              <a:latin typeface="Times New Roman" panose="02020603050405020304" pitchFamily="18" charset="0"/>
              <a:cs typeface="Times New Roman" panose="02020603050405020304" pitchFamily="18" charset="0"/>
            </a:endParaRPr>
          </a:p>
        </p:txBody>
      </p:sp>
      <p:pic>
        <p:nvPicPr>
          <p:cNvPr id="4" name="Image 0" descr="preencoded.png">
            <a:extLst>
              <a:ext uri="{FF2B5EF4-FFF2-40B4-BE49-F238E27FC236}">
                <a16:creationId xmlns:a16="http://schemas.microsoft.com/office/drawing/2014/main" id="{C357DA47-87CA-8AC8-7351-0C2E2EAAA24F}"/>
              </a:ext>
            </a:extLst>
          </p:cNvPr>
          <p:cNvPicPr>
            <a:picLocks noChangeAspect="1"/>
          </p:cNvPicPr>
          <p:nvPr/>
        </p:nvPicPr>
        <p:blipFill>
          <a:blip r:embed="rId2"/>
          <a:stretch>
            <a:fillRect/>
          </a:stretch>
        </p:blipFill>
        <p:spPr>
          <a:xfrm>
            <a:off x="1344744" y="1219200"/>
            <a:ext cx="6454511" cy="430887"/>
          </a:xfrm>
          <a:prstGeom prst="rect">
            <a:avLst/>
          </a:prstGeom>
        </p:spPr>
      </p:pic>
      <p:pic>
        <p:nvPicPr>
          <p:cNvPr id="6" name="Hình ảnh 5">
            <a:extLst>
              <a:ext uri="{FF2B5EF4-FFF2-40B4-BE49-F238E27FC236}">
                <a16:creationId xmlns:a16="http://schemas.microsoft.com/office/drawing/2014/main" id="{B2A44C4E-8A3D-1FEF-4F9D-583B6D353DDC}"/>
              </a:ext>
            </a:extLst>
          </p:cNvPr>
          <p:cNvPicPr>
            <a:picLocks noChangeAspect="1"/>
          </p:cNvPicPr>
          <p:nvPr/>
        </p:nvPicPr>
        <p:blipFill>
          <a:blip r:embed="rId3"/>
          <a:stretch>
            <a:fillRect/>
          </a:stretch>
        </p:blipFill>
        <p:spPr>
          <a:xfrm>
            <a:off x="4067250" y="2057400"/>
            <a:ext cx="4809893" cy="3826051"/>
          </a:xfrm>
          <a:prstGeom prst="rect">
            <a:avLst/>
          </a:prstGeom>
        </p:spPr>
      </p:pic>
    </p:spTree>
    <p:extLst>
      <p:ext uri="{BB962C8B-B14F-4D97-AF65-F5344CB8AC3E}">
        <p14:creationId xmlns:p14="http://schemas.microsoft.com/office/powerpoint/2010/main" val="1037752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FBD2809-0E88-9EB6-AD5A-A8F322B7953E}"/>
              </a:ext>
            </a:extLst>
          </p:cNvPr>
          <p:cNvSpPr>
            <a:spLocks noGrp="1"/>
          </p:cNvSpPr>
          <p:nvPr>
            <p:ph type="title"/>
          </p:nvPr>
        </p:nvSpPr>
        <p:spPr>
          <a:xfrm>
            <a:off x="899414" y="304800"/>
            <a:ext cx="7345172" cy="430887"/>
          </a:xfrm>
        </p:spPr>
        <p:txBody>
          <a:bodyPr/>
          <a:lstStyle/>
          <a:p>
            <a:r>
              <a:rPr lang="en-US" sz="2800" dirty="0"/>
              <a:t>ĐÁNH GIÁ CHI TIẾT TRÊN TẬP TEST </a:t>
            </a:r>
          </a:p>
        </p:txBody>
      </p:sp>
      <p:sp>
        <p:nvSpPr>
          <p:cNvPr id="3" name="Chỗ dành sẵn cho Văn bản 2">
            <a:extLst>
              <a:ext uri="{FF2B5EF4-FFF2-40B4-BE49-F238E27FC236}">
                <a16:creationId xmlns:a16="http://schemas.microsoft.com/office/drawing/2014/main" id="{ECB844DD-5324-6945-5363-A5A8CA4F901D}"/>
              </a:ext>
            </a:extLst>
          </p:cNvPr>
          <p:cNvSpPr>
            <a:spLocks noGrp="1"/>
          </p:cNvSpPr>
          <p:nvPr>
            <p:ph type="body" idx="1"/>
          </p:nvPr>
        </p:nvSpPr>
        <p:spPr>
          <a:xfrm>
            <a:off x="228600" y="1295400"/>
            <a:ext cx="5790184" cy="781240"/>
          </a:xfrm>
        </p:spPr>
        <p:txBody>
          <a:bodyPr/>
          <a:lstStyle/>
          <a:p>
            <a:pPr algn="l">
              <a:lnSpc>
                <a:spcPct val="150000"/>
              </a:lnSpc>
            </a:pPr>
            <a:r>
              <a:rPr lang="vi-VN"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Mô</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hình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tốt</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nhất</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tại</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Epoch 19)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được</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đánh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giá</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trên</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624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ảnh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test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để</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xác</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định</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hiệu</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năng</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thực</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800" b="0" dirty="0" err="1">
                <a:solidFill>
                  <a:srgbClr val="3B3535"/>
                </a:solidFill>
                <a:latin typeface="Times New Roman" panose="02020603050405020304" pitchFamily="18" charset="0"/>
                <a:ea typeface="Roboto Light" pitchFamily="34" charset="-122"/>
                <a:cs typeface="Times New Roman" panose="02020603050405020304" pitchFamily="18" charset="0"/>
              </a:rPr>
              <a:t>tế</a:t>
            </a:r>
            <a:r>
              <a:rPr lang="en-US" sz="1800" b="0" dirty="0">
                <a:solidFill>
                  <a:srgbClr val="3B3535"/>
                </a:solidFill>
                <a:latin typeface="Times New Roman" panose="02020603050405020304" pitchFamily="18" charset="0"/>
                <a:ea typeface="Roboto Light" pitchFamily="34" charset="-122"/>
                <a:cs typeface="Times New Roman" panose="02020603050405020304" pitchFamily="18" charset="0"/>
              </a:rPr>
              <a:t>.</a:t>
            </a:r>
            <a:endParaRPr lang="en-US" sz="1800" b="0" dirty="0">
              <a:latin typeface="Times New Roman" panose="02020603050405020304" pitchFamily="18" charset="0"/>
              <a:cs typeface="Times New Roman" panose="02020603050405020304" pitchFamily="18" charset="0"/>
            </a:endParaRPr>
          </a:p>
        </p:txBody>
      </p:sp>
      <p:sp>
        <p:nvSpPr>
          <p:cNvPr id="7" name="Hộp Văn bản 6">
            <a:extLst>
              <a:ext uri="{FF2B5EF4-FFF2-40B4-BE49-F238E27FC236}">
                <a16:creationId xmlns:a16="http://schemas.microsoft.com/office/drawing/2014/main" id="{CB7D2BAD-73F3-C245-E2AB-C17CD99F5B90}"/>
              </a:ext>
            </a:extLst>
          </p:cNvPr>
          <p:cNvSpPr txBox="1"/>
          <p:nvPr/>
        </p:nvSpPr>
        <p:spPr>
          <a:xfrm>
            <a:off x="4647186" y="2359429"/>
            <a:ext cx="4572000" cy="310341"/>
          </a:xfrm>
          <a:prstGeom prst="rect">
            <a:avLst/>
          </a:prstGeom>
          <a:noFill/>
        </p:spPr>
        <p:txBody>
          <a:bodyPr wrap="square">
            <a:spAutoFit/>
          </a:bodyPr>
          <a:lstStyle/>
          <a:p>
            <a:pPr marL="0" indent="0" algn="l">
              <a:lnSpc>
                <a:spcPts val="1700"/>
              </a:lnSpc>
              <a:buNone/>
            </a:pPr>
            <a:r>
              <a:rPr lang="en-US" sz="1800" dirty="0" err="1">
                <a:solidFill>
                  <a:srgbClr val="1F1E1E"/>
                </a:solidFill>
                <a:latin typeface="Times New Roman" panose="02020603050405020304" pitchFamily="18" charset="0"/>
                <a:ea typeface="Red Hat Text" pitchFamily="34" charset="-122"/>
                <a:cs typeface="Times New Roman" panose="02020603050405020304" pitchFamily="18" charset="0"/>
              </a:rPr>
              <a:t>Kết</a:t>
            </a:r>
            <a:r>
              <a:rPr lang="en-US" sz="1800" dirty="0">
                <a:solidFill>
                  <a:srgbClr val="1F1E1E"/>
                </a:solidFill>
                <a:latin typeface="Times New Roman" panose="02020603050405020304" pitchFamily="18" charset="0"/>
                <a:ea typeface="Red Hat Text" pitchFamily="34" charset="-122"/>
                <a:cs typeface="Times New Roman" panose="02020603050405020304" pitchFamily="18" charset="0"/>
              </a:rPr>
              <a:t> </a:t>
            </a:r>
            <a:r>
              <a:rPr lang="en-US" sz="1800" dirty="0" err="1">
                <a:solidFill>
                  <a:srgbClr val="1F1E1E"/>
                </a:solidFill>
                <a:latin typeface="Times New Roman" panose="02020603050405020304" pitchFamily="18" charset="0"/>
                <a:ea typeface="Red Hat Text" pitchFamily="34" charset="-122"/>
                <a:cs typeface="Times New Roman" panose="02020603050405020304" pitchFamily="18" charset="0"/>
              </a:rPr>
              <a:t>quả</a:t>
            </a:r>
            <a:r>
              <a:rPr lang="en-US" sz="1800" dirty="0">
                <a:solidFill>
                  <a:srgbClr val="1F1E1E"/>
                </a:solidFill>
                <a:latin typeface="Times New Roman" panose="02020603050405020304" pitchFamily="18" charset="0"/>
                <a:ea typeface="Red Hat Text" pitchFamily="34" charset="-122"/>
                <a:cs typeface="Times New Roman" panose="02020603050405020304" pitchFamily="18" charset="0"/>
              </a:rPr>
              <a:t> Ma </a:t>
            </a:r>
            <a:r>
              <a:rPr lang="en-US" sz="1800" dirty="0" err="1">
                <a:solidFill>
                  <a:srgbClr val="1F1E1E"/>
                </a:solidFill>
                <a:latin typeface="Times New Roman" panose="02020603050405020304" pitchFamily="18" charset="0"/>
                <a:ea typeface="Red Hat Text" pitchFamily="34" charset="-122"/>
                <a:cs typeface="Times New Roman" panose="02020603050405020304" pitchFamily="18" charset="0"/>
              </a:rPr>
              <a:t>trận</a:t>
            </a:r>
            <a:r>
              <a:rPr lang="en-US" sz="1800" dirty="0">
                <a:solidFill>
                  <a:srgbClr val="1F1E1E"/>
                </a:solidFill>
                <a:latin typeface="Times New Roman" panose="02020603050405020304" pitchFamily="18" charset="0"/>
                <a:ea typeface="Red Hat Text" pitchFamily="34" charset="-122"/>
                <a:cs typeface="Times New Roman" panose="02020603050405020304" pitchFamily="18" charset="0"/>
              </a:rPr>
              <a:t> </a:t>
            </a:r>
            <a:r>
              <a:rPr lang="en-US" sz="1800" dirty="0" err="1">
                <a:solidFill>
                  <a:srgbClr val="1F1E1E"/>
                </a:solidFill>
                <a:latin typeface="Times New Roman" panose="02020603050405020304" pitchFamily="18" charset="0"/>
                <a:ea typeface="Red Hat Text" pitchFamily="34" charset="-122"/>
                <a:cs typeface="Times New Roman" panose="02020603050405020304" pitchFamily="18" charset="0"/>
              </a:rPr>
              <a:t>Nhầm</a:t>
            </a:r>
            <a:r>
              <a:rPr lang="en-US" sz="1800" dirty="0">
                <a:solidFill>
                  <a:srgbClr val="1F1E1E"/>
                </a:solidFill>
                <a:latin typeface="Times New Roman" panose="02020603050405020304" pitchFamily="18" charset="0"/>
                <a:ea typeface="Red Hat Text" pitchFamily="34" charset="-122"/>
                <a:cs typeface="Times New Roman" panose="02020603050405020304" pitchFamily="18" charset="0"/>
              </a:rPr>
              <a:t> </a:t>
            </a:r>
            <a:r>
              <a:rPr lang="en-US" sz="1800" dirty="0" err="1">
                <a:solidFill>
                  <a:srgbClr val="1F1E1E"/>
                </a:solidFill>
                <a:latin typeface="Times New Roman" panose="02020603050405020304" pitchFamily="18" charset="0"/>
                <a:ea typeface="Red Hat Text" pitchFamily="34" charset="-122"/>
                <a:cs typeface="Times New Roman" panose="02020603050405020304" pitchFamily="18" charset="0"/>
              </a:rPr>
              <a:t>lẫn</a:t>
            </a:r>
            <a:r>
              <a:rPr lang="vi-VN" sz="1800" dirty="0">
                <a:solidFill>
                  <a:srgbClr val="1F1E1E"/>
                </a:solidFill>
                <a:latin typeface="Times New Roman" panose="02020603050405020304" pitchFamily="18" charset="0"/>
                <a:ea typeface="Red Hat Text" pitchFamily="34" charset="-122"/>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sp>
        <p:nvSpPr>
          <p:cNvPr id="9" name="Hộp Văn bản 8">
            <a:extLst>
              <a:ext uri="{FF2B5EF4-FFF2-40B4-BE49-F238E27FC236}">
                <a16:creationId xmlns:a16="http://schemas.microsoft.com/office/drawing/2014/main" id="{D7EC13FE-C493-AAF5-C42F-293278F0AC39}"/>
              </a:ext>
            </a:extLst>
          </p:cNvPr>
          <p:cNvSpPr txBox="1"/>
          <p:nvPr/>
        </p:nvSpPr>
        <p:spPr>
          <a:xfrm>
            <a:off x="4876800" y="2674082"/>
            <a:ext cx="4606636" cy="786754"/>
          </a:xfrm>
          <a:prstGeom prst="rect">
            <a:avLst/>
          </a:prstGeom>
          <a:noFill/>
        </p:spPr>
        <p:txBody>
          <a:bodyPr wrap="square">
            <a:spAutoFit/>
          </a:bodyPr>
          <a:lstStyle/>
          <a:p>
            <a:pPr algn="l">
              <a:lnSpc>
                <a:spcPct val="150000"/>
              </a:lnSpc>
              <a:buSzPct val="100000"/>
            </a:pPr>
            <a:r>
              <a:rPr lang="en-US" sz="1600" b="1" dirty="0">
                <a:solidFill>
                  <a:srgbClr val="3B3535"/>
                </a:solidFill>
                <a:latin typeface="Times New Roman" panose="02020603050405020304" pitchFamily="18" charset="0"/>
                <a:ea typeface="Roboto Light" pitchFamily="34" charset="-122"/>
                <a:cs typeface="Times New Roman" panose="02020603050405020304" pitchFamily="18" charset="0"/>
              </a:rPr>
              <a:t>True Positive (TP):</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381/390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mẫu</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PNEUMONIA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được</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dự</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đoán</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đúng</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1" name="Hộp Văn bản 10">
            <a:extLst>
              <a:ext uri="{FF2B5EF4-FFF2-40B4-BE49-F238E27FC236}">
                <a16:creationId xmlns:a16="http://schemas.microsoft.com/office/drawing/2014/main" id="{FCCEA3DF-7494-1494-7E13-07FCBE4E7B06}"/>
              </a:ext>
            </a:extLst>
          </p:cNvPr>
          <p:cNvSpPr txBox="1"/>
          <p:nvPr/>
        </p:nvSpPr>
        <p:spPr>
          <a:xfrm>
            <a:off x="4859599" y="3549649"/>
            <a:ext cx="4333009" cy="786754"/>
          </a:xfrm>
          <a:prstGeom prst="rect">
            <a:avLst/>
          </a:prstGeom>
          <a:noFill/>
        </p:spPr>
        <p:txBody>
          <a:bodyPr wrap="square">
            <a:spAutoFit/>
          </a:bodyPr>
          <a:lstStyle/>
          <a:p>
            <a:pPr algn="l">
              <a:lnSpc>
                <a:spcPct val="150000"/>
              </a:lnSpc>
              <a:buSzPct val="100000"/>
            </a:pPr>
            <a:r>
              <a:rPr lang="en-US" sz="1600" b="1" dirty="0">
                <a:solidFill>
                  <a:srgbClr val="3B3535"/>
                </a:solidFill>
                <a:latin typeface="Times New Roman" panose="02020603050405020304" pitchFamily="18" charset="0"/>
                <a:ea typeface="Roboto Light" pitchFamily="34" charset="-122"/>
                <a:cs typeface="Times New Roman" panose="02020603050405020304" pitchFamily="18" charset="0"/>
              </a:rPr>
              <a:t>False Negative (FN):</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Chỉ</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9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mẫu</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PNEUMONIA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bị</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bỏ</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sót</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dự</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đoán</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nhầm</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là</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NORMAL).</a:t>
            </a:r>
            <a:endParaRPr lang="en-US" sz="1600" dirty="0">
              <a:latin typeface="Times New Roman" panose="02020603050405020304" pitchFamily="18" charset="0"/>
              <a:cs typeface="Times New Roman" panose="02020603050405020304" pitchFamily="18" charset="0"/>
            </a:endParaRPr>
          </a:p>
        </p:txBody>
      </p:sp>
      <p:sp>
        <p:nvSpPr>
          <p:cNvPr id="13" name="Hộp Văn bản 12">
            <a:extLst>
              <a:ext uri="{FF2B5EF4-FFF2-40B4-BE49-F238E27FC236}">
                <a16:creationId xmlns:a16="http://schemas.microsoft.com/office/drawing/2014/main" id="{11E10856-7565-03DC-C6B4-6A85D9ABDDA7}"/>
              </a:ext>
            </a:extLst>
          </p:cNvPr>
          <p:cNvSpPr txBox="1"/>
          <p:nvPr/>
        </p:nvSpPr>
        <p:spPr>
          <a:xfrm>
            <a:off x="4876800" y="4425216"/>
            <a:ext cx="4333009" cy="786754"/>
          </a:xfrm>
          <a:prstGeom prst="rect">
            <a:avLst/>
          </a:prstGeom>
          <a:noFill/>
        </p:spPr>
        <p:txBody>
          <a:bodyPr wrap="square">
            <a:spAutoFit/>
          </a:bodyPr>
          <a:lstStyle/>
          <a:p>
            <a:pPr algn="l">
              <a:lnSpc>
                <a:spcPct val="150000"/>
              </a:lnSpc>
              <a:buSzPct val="100000"/>
            </a:pPr>
            <a:r>
              <a:rPr lang="en-US" sz="1600" b="1" dirty="0">
                <a:solidFill>
                  <a:srgbClr val="3B3535"/>
                </a:solidFill>
                <a:latin typeface="Times New Roman" panose="02020603050405020304" pitchFamily="18" charset="0"/>
                <a:ea typeface="Roboto Light" pitchFamily="34" charset="-122"/>
                <a:cs typeface="Times New Roman" panose="02020603050405020304" pitchFamily="18" charset="0"/>
              </a:rPr>
              <a:t>False Positive (FP):</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87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mẫu</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NORMAL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bị</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dự</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đoán</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nhầm</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là</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PNEUMONIA.</a:t>
            </a:r>
            <a:endParaRPr lang="en-US" sz="1600" dirty="0">
              <a:latin typeface="Times New Roman" panose="02020603050405020304" pitchFamily="18" charset="0"/>
              <a:cs typeface="Times New Roman" panose="02020603050405020304" pitchFamily="18" charset="0"/>
            </a:endParaRPr>
          </a:p>
        </p:txBody>
      </p:sp>
      <p:sp>
        <p:nvSpPr>
          <p:cNvPr id="15" name="Hộp Văn bản 14">
            <a:extLst>
              <a:ext uri="{FF2B5EF4-FFF2-40B4-BE49-F238E27FC236}">
                <a16:creationId xmlns:a16="http://schemas.microsoft.com/office/drawing/2014/main" id="{FD777B99-1899-5A89-1F16-E1F3BBB896DE}"/>
              </a:ext>
            </a:extLst>
          </p:cNvPr>
          <p:cNvSpPr txBox="1"/>
          <p:nvPr/>
        </p:nvSpPr>
        <p:spPr>
          <a:xfrm>
            <a:off x="4876800" y="5300783"/>
            <a:ext cx="4267200" cy="786754"/>
          </a:xfrm>
          <a:prstGeom prst="rect">
            <a:avLst/>
          </a:prstGeom>
          <a:noFill/>
        </p:spPr>
        <p:txBody>
          <a:bodyPr wrap="square">
            <a:spAutoFit/>
          </a:bodyPr>
          <a:lstStyle/>
          <a:p>
            <a:pPr algn="l">
              <a:lnSpc>
                <a:spcPct val="150000"/>
              </a:lnSpc>
              <a:buSzPct val="100000"/>
            </a:pPr>
            <a:r>
              <a:rPr lang="en-US" sz="1600" b="1" dirty="0">
                <a:solidFill>
                  <a:srgbClr val="3B3535"/>
                </a:solidFill>
                <a:latin typeface="Times New Roman" panose="02020603050405020304" pitchFamily="18" charset="0"/>
                <a:ea typeface="Roboto Light" pitchFamily="34" charset="-122"/>
                <a:cs typeface="Times New Roman" panose="02020603050405020304" pitchFamily="18" charset="0"/>
              </a:rPr>
              <a:t>True Negative (TN):</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147/234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mẫu</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NORMAL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được</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dự</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đoán</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sz="1600" dirty="0" err="1">
                <a:solidFill>
                  <a:srgbClr val="3B3535"/>
                </a:solidFill>
                <a:latin typeface="Times New Roman" panose="02020603050405020304" pitchFamily="18" charset="0"/>
                <a:ea typeface="Roboto Light" pitchFamily="34" charset="-122"/>
                <a:cs typeface="Times New Roman" panose="02020603050405020304" pitchFamily="18" charset="0"/>
              </a:rPr>
              <a:t>đúng</a:t>
            </a:r>
            <a:r>
              <a:rPr lang="en-US" sz="1600" dirty="0">
                <a:solidFill>
                  <a:srgbClr val="3B3535"/>
                </a:solidFill>
                <a:latin typeface="Times New Roman" panose="02020603050405020304" pitchFamily="18" charset="0"/>
                <a:ea typeface="Roboto Light"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pic>
        <p:nvPicPr>
          <p:cNvPr id="17" name="Hình ảnh 16">
            <a:extLst>
              <a:ext uri="{FF2B5EF4-FFF2-40B4-BE49-F238E27FC236}">
                <a16:creationId xmlns:a16="http://schemas.microsoft.com/office/drawing/2014/main" id="{DEB8F3B6-69F8-2C22-195F-535EBD68D73D}"/>
              </a:ext>
            </a:extLst>
          </p:cNvPr>
          <p:cNvPicPr>
            <a:picLocks noChangeAspect="1"/>
          </p:cNvPicPr>
          <p:nvPr/>
        </p:nvPicPr>
        <p:blipFill>
          <a:blip r:embed="rId2"/>
          <a:stretch>
            <a:fillRect/>
          </a:stretch>
        </p:blipFill>
        <p:spPr>
          <a:xfrm>
            <a:off x="458582" y="2435631"/>
            <a:ext cx="4188604" cy="3505200"/>
          </a:xfrm>
          <a:prstGeom prst="rect">
            <a:avLst/>
          </a:prstGeom>
        </p:spPr>
      </p:pic>
    </p:spTree>
    <p:extLst>
      <p:ext uri="{BB962C8B-B14F-4D97-AF65-F5344CB8AC3E}">
        <p14:creationId xmlns:p14="http://schemas.microsoft.com/office/powerpoint/2010/main" val="1104698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5B0C977-3CB3-F684-FF48-7C890645EF50}"/>
              </a:ext>
            </a:extLst>
          </p:cNvPr>
          <p:cNvSpPr>
            <a:spLocks noGrp="1"/>
          </p:cNvSpPr>
          <p:nvPr>
            <p:ph type="title"/>
          </p:nvPr>
        </p:nvSpPr>
        <p:spPr>
          <a:xfrm>
            <a:off x="899414" y="304800"/>
            <a:ext cx="7345172" cy="430887"/>
          </a:xfrm>
        </p:spPr>
        <p:txBody>
          <a:bodyPr/>
          <a:lstStyle/>
          <a:p>
            <a:r>
              <a:rPr lang="en-US" sz="2800" dirty="0">
                <a:latin typeface="Times New Roman" panose="02020603050405020304" pitchFamily="18" charset="0"/>
                <a:ea typeface="Red Hat Text" pitchFamily="34" charset="-122"/>
                <a:cs typeface="Times New Roman" panose="02020603050405020304" pitchFamily="18" charset="0"/>
              </a:rPr>
              <a:t>KẾT LUẬN VÀ HƯỚNG PHÁT TRIỂN</a:t>
            </a:r>
            <a:endParaRPr lang="en-US" sz="2800" dirty="0">
              <a:latin typeface="Times New Roman" panose="02020603050405020304" pitchFamily="18" charset="0"/>
              <a:cs typeface="Times New Roman" panose="02020603050405020304" pitchFamily="18" charset="0"/>
            </a:endParaRPr>
          </a:p>
        </p:txBody>
      </p:sp>
      <p:sp>
        <p:nvSpPr>
          <p:cNvPr id="29" name="Shape 2">
            <a:extLst>
              <a:ext uri="{FF2B5EF4-FFF2-40B4-BE49-F238E27FC236}">
                <a16:creationId xmlns:a16="http://schemas.microsoft.com/office/drawing/2014/main" id="{98CEF1FD-1136-C53F-DA94-52D15C44BCF3}"/>
              </a:ext>
            </a:extLst>
          </p:cNvPr>
          <p:cNvSpPr/>
          <p:nvPr/>
        </p:nvSpPr>
        <p:spPr>
          <a:xfrm>
            <a:off x="1030369" y="2005417"/>
            <a:ext cx="2286476" cy="130274"/>
          </a:xfrm>
          <a:prstGeom prst="roundRect">
            <a:avLst>
              <a:gd name="adj" fmla="val 34360"/>
            </a:avLst>
          </a:prstGeom>
          <a:solidFill>
            <a:srgbClr val="F5A3A3"/>
          </a:solidFill>
          <a:ln/>
        </p:spPr>
      </p:sp>
      <p:sp>
        <p:nvSpPr>
          <p:cNvPr id="32" name="Text 4">
            <a:extLst>
              <a:ext uri="{FF2B5EF4-FFF2-40B4-BE49-F238E27FC236}">
                <a16:creationId xmlns:a16="http://schemas.microsoft.com/office/drawing/2014/main" id="{31B6B2DE-BF99-B30E-90C1-0EBD66C2558C}"/>
              </a:ext>
            </a:extLst>
          </p:cNvPr>
          <p:cNvSpPr/>
          <p:nvPr/>
        </p:nvSpPr>
        <p:spPr>
          <a:xfrm>
            <a:off x="1752600" y="2383708"/>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3B3535"/>
                </a:solidFill>
                <a:latin typeface="Times New Roman" panose="02020603050405020304" pitchFamily="18" charset="0"/>
                <a:ea typeface="Red Hat Text" pitchFamily="34" charset="-122"/>
                <a:cs typeface="Times New Roman" panose="02020603050405020304" pitchFamily="18" charset="0"/>
              </a:rPr>
              <a:t>Kết Luận</a:t>
            </a:r>
            <a:endParaRPr lang="en-US" sz="1900" dirty="0">
              <a:latin typeface="Times New Roman" panose="02020603050405020304" pitchFamily="18" charset="0"/>
              <a:cs typeface="Times New Roman" panose="02020603050405020304" pitchFamily="18" charset="0"/>
            </a:endParaRPr>
          </a:p>
        </p:txBody>
      </p:sp>
      <p:sp>
        <p:nvSpPr>
          <p:cNvPr id="33" name="Text 5">
            <a:extLst>
              <a:ext uri="{FF2B5EF4-FFF2-40B4-BE49-F238E27FC236}">
                <a16:creationId xmlns:a16="http://schemas.microsoft.com/office/drawing/2014/main" id="{D0E3C0A4-4A04-BAA8-923F-354F5EA9F1C1}"/>
              </a:ext>
            </a:extLst>
          </p:cNvPr>
          <p:cNvSpPr/>
          <p:nvPr/>
        </p:nvSpPr>
        <p:spPr>
          <a:xfrm>
            <a:off x="573169" y="2939740"/>
            <a:ext cx="3643549" cy="2893681"/>
          </a:xfrm>
          <a:prstGeom prst="rect">
            <a:avLst/>
          </a:prstGeom>
          <a:noFill/>
          <a:ln/>
        </p:spPr>
        <p:txBody>
          <a:bodyPr wrap="square" lIns="0" tIns="0" rIns="0" bIns="0" rtlCol="0" anchor="t"/>
          <a:lstStyle/>
          <a:p>
            <a:pPr marL="0" indent="0" algn="just">
              <a:lnSpc>
                <a:spcPct val="150000"/>
              </a:lnSpc>
              <a:buNone/>
            </a:pP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Mô hình ResNet-34 cải tiến đã đạt được mục tiêu đề ra, với độ chính xác tổng thể 85% và độ nhạy (Recall) lớp PNEUMONIA là 98%. Transfer Learning giúp mô hình hội tụ nhanh và đạt hiệu suất cao, chứng minh tính hiệu quả của học sâu trong phân tích ảnh X-ray phổi.</a:t>
            </a:r>
            <a:endParaRPr lang="en-US" dirty="0">
              <a:latin typeface="Times New Roman" panose="02020603050405020304" pitchFamily="18" charset="0"/>
              <a:cs typeface="Times New Roman" panose="02020603050405020304" pitchFamily="18" charset="0"/>
            </a:endParaRPr>
          </a:p>
        </p:txBody>
      </p:sp>
      <p:sp>
        <p:nvSpPr>
          <p:cNvPr id="30" name="Shape 3">
            <a:extLst>
              <a:ext uri="{FF2B5EF4-FFF2-40B4-BE49-F238E27FC236}">
                <a16:creationId xmlns:a16="http://schemas.microsoft.com/office/drawing/2014/main" id="{48A55950-10F1-62F5-8998-7B90D3D9D214}"/>
              </a:ext>
            </a:extLst>
          </p:cNvPr>
          <p:cNvSpPr/>
          <p:nvPr/>
        </p:nvSpPr>
        <p:spPr>
          <a:xfrm>
            <a:off x="1859460" y="1700677"/>
            <a:ext cx="628293" cy="628293"/>
          </a:xfrm>
          <a:prstGeom prst="roundRect">
            <a:avLst>
              <a:gd name="adj" fmla="val 145537"/>
            </a:avLst>
          </a:prstGeom>
          <a:solidFill>
            <a:srgbClr val="F5A3A3"/>
          </a:solidFill>
          <a:ln/>
        </p:spPr>
      </p:sp>
      <p:pic>
        <p:nvPicPr>
          <p:cNvPr id="31" name="Image 0" descr="preencoded.png">
            <a:extLst>
              <a:ext uri="{FF2B5EF4-FFF2-40B4-BE49-F238E27FC236}">
                <a16:creationId xmlns:a16="http://schemas.microsoft.com/office/drawing/2014/main" id="{F09C5760-D979-BA94-ADDD-838636EE0B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54900" y="1884349"/>
            <a:ext cx="251341" cy="251341"/>
          </a:xfrm>
          <a:prstGeom prst="rect">
            <a:avLst/>
          </a:prstGeom>
        </p:spPr>
      </p:pic>
      <p:sp>
        <p:nvSpPr>
          <p:cNvPr id="34" name="Shape 7">
            <a:extLst>
              <a:ext uri="{FF2B5EF4-FFF2-40B4-BE49-F238E27FC236}">
                <a16:creationId xmlns:a16="http://schemas.microsoft.com/office/drawing/2014/main" id="{D1024548-7BE8-7577-3FA3-85C7970D930D}"/>
              </a:ext>
            </a:extLst>
          </p:cNvPr>
          <p:cNvSpPr/>
          <p:nvPr/>
        </p:nvSpPr>
        <p:spPr>
          <a:xfrm>
            <a:off x="5890795" y="1989430"/>
            <a:ext cx="2286476" cy="130274"/>
          </a:xfrm>
          <a:prstGeom prst="roundRect">
            <a:avLst>
              <a:gd name="adj" fmla="val 34360"/>
            </a:avLst>
          </a:prstGeom>
          <a:solidFill>
            <a:srgbClr val="F5A3A3"/>
          </a:solidFill>
          <a:ln/>
        </p:spPr>
      </p:sp>
      <p:sp>
        <p:nvSpPr>
          <p:cNvPr id="35" name="Shape 8">
            <a:extLst>
              <a:ext uri="{FF2B5EF4-FFF2-40B4-BE49-F238E27FC236}">
                <a16:creationId xmlns:a16="http://schemas.microsoft.com/office/drawing/2014/main" id="{9CCD0453-727F-C84B-8B3D-F8F90F356E54}"/>
              </a:ext>
            </a:extLst>
          </p:cNvPr>
          <p:cNvSpPr/>
          <p:nvPr/>
        </p:nvSpPr>
        <p:spPr>
          <a:xfrm>
            <a:off x="6753940" y="1786046"/>
            <a:ext cx="539319" cy="537041"/>
          </a:xfrm>
          <a:prstGeom prst="roundRect">
            <a:avLst>
              <a:gd name="adj" fmla="val 145537"/>
            </a:avLst>
          </a:prstGeom>
          <a:solidFill>
            <a:srgbClr val="F5A3A3"/>
          </a:solidFill>
          <a:ln/>
        </p:spPr>
      </p:sp>
      <p:pic>
        <p:nvPicPr>
          <p:cNvPr id="36" name="Image 1" descr="preencoded.png">
            <a:extLst>
              <a:ext uri="{FF2B5EF4-FFF2-40B4-BE49-F238E27FC236}">
                <a16:creationId xmlns:a16="http://schemas.microsoft.com/office/drawing/2014/main" id="{86A5F562-EFD3-B0F2-C04B-1BBF15DF768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44557" y="1889038"/>
            <a:ext cx="358084" cy="358084"/>
          </a:xfrm>
          <a:prstGeom prst="rect">
            <a:avLst/>
          </a:prstGeom>
        </p:spPr>
      </p:pic>
      <p:sp>
        <p:nvSpPr>
          <p:cNvPr id="37" name="Text 9">
            <a:extLst>
              <a:ext uri="{FF2B5EF4-FFF2-40B4-BE49-F238E27FC236}">
                <a16:creationId xmlns:a16="http://schemas.microsoft.com/office/drawing/2014/main" id="{5CA04BEB-445C-D51D-1835-700FB343E419}"/>
              </a:ext>
            </a:extLst>
          </p:cNvPr>
          <p:cNvSpPr/>
          <p:nvPr/>
        </p:nvSpPr>
        <p:spPr>
          <a:xfrm>
            <a:off x="5730284" y="2383708"/>
            <a:ext cx="2944714" cy="438827"/>
          </a:xfrm>
          <a:prstGeom prst="rect">
            <a:avLst/>
          </a:prstGeom>
          <a:noFill/>
          <a:ln/>
        </p:spPr>
        <p:txBody>
          <a:bodyPr wrap="none" lIns="0" tIns="0" rIns="0" bIns="0" rtlCol="0" anchor="t"/>
          <a:lstStyle/>
          <a:p>
            <a:pPr marL="0" indent="0" algn="l">
              <a:lnSpc>
                <a:spcPts val="2400"/>
              </a:lnSpc>
              <a:buNone/>
            </a:pPr>
            <a:r>
              <a:rPr lang="en-US" sz="1900" dirty="0">
                <a:solidFill>
                  <a:srgbClr val="3B3535"/>
                </a:solidFill>
                <a:latin typeface="Times New Roman" panose="02020603050405020304" pitchFamily="18" charset="0"/>
                <a:ea typeface="Red Hat Text" pitchFamily="34" charset="-122"/>
                <a:cs typeface="Times New Roman" panose="02020603050405020304" pitchFamily="18" charset="0"/>
              </a:rPr>
              <a:t>Tối ưu hóa Lớp Bình Thường</a:t>
            </a:r>
            <a:endParaRPr lang="en-US" sz="1900" dirty="0">
              <a:latin typeface="Times New Roman" panose="02020603050405020304" pitchFamily="18" charset="0"/>
              <a:cs typeface="Times New Roman" panose="02020603050405020304" pitchFamily="18" charset="0"/>
            </a:endParaRPr>
          </a:p>
        </p:txBody>
      </p:sp>
      <p:sp>
        <p:nvSpPr>
          <p:cNvPr id="39" name="Hộp Văn bản 38">
            <a:extLst>
              <a:ext uri="{FF2B5EF4-FFF2-40B4-BE49-F238E27FC236}">
                <a16:creationId xmlns:a16="http://schemas.microsoft.com/office/drawing/2014/main" id="{12238A2A-F6A2-040C-D733-5319D44147C1}"/>
              </a:ext>
            </a:extLst>
          </p:cNvPr>
          <p:cNvSpPr txBox="1"/>
          <p:nvPr/>
        </p:nvSpPr>
        <p:spPr>
          <a:xfrm>
            <a:off x="5312059" y="2843317"/>
            <a:ext cx="3831941" cy="2120068"/>
          </a:xfrm>
          <a:prstGeom prst="rect">
            <a:avLst/>
          </a:prstGeom>
          <a:noFill/>
        </p:spPr>
        <p:txBody>
          <a:bodyPr wrap="square">
            <a:spAutoFit/>
          </a:bodyPr>
          <a:lstStyle/>
          <a:p>
            <a:pPr algn="l">
              <a:lnSpc>
                <a:spcPct val="150000"/>
              </a:lnSpc>
            </a:pP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Cần</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áp</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dụng</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các</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kỹ</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thuật</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như</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Class Weighting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hoặc</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Focal Loss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để</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giảm</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tỷ</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lệ</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báo</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động</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giả</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(False Positive)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và</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cải</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thiện</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Recall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của</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lớp</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NORMAL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hiện</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a:t>
            </a:r>
            <a:r>
              <a:rPr lang="en-US" dirty="0" err="1">
                <a:solidFill>
                  <a:srgbClr val="3B3535"/>
                </a:solidFill>
                <a:latin typeface="Times New Roman" panose="02020603050405020304" pitchFamily="18" charset="0"/>
                <a:ea typeface="Roboto Light" pitchFamily="34" charset="-122"/>
                <a:cs typeface="Times New Roman" panose="02020603050405020304" pitchFamily="18" charset="0"/>
              </a:rPr>
              <a:t>tại</a:t>
            </a: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 63%).</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5383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5B0C977-3CB3-F684-FF48-7C890645EF50}"/>
              </a:ext>
            </a:extLst>
          </p:cNvPr>
          <p:cNvSpPr>
            <a:spLocks noGrp="1"/>
          </p:cNvSpPr>
          <p:nvPr>
            <p:ph type="title"/>
          </p:nvPr>
        </p:nvSpPr>
        <p:spPr>
          <a:xfrm>
            <a:off x="899414" y="304800"/>
            <a:ext cx="7345172" cy="430887"/>
          </a:xfrm>
        </p:spPr>
        <p:txBody>
          <a:bodyPr/>
          <a:lstStyle/>
          <a:p>
            <a:r>
              <a:rPr lang="en-US" sz="2800" dirty="0">
                <a:latin typeface="Times New Roman" panose="02020603050405020304" pitchFamily="18" charset="0"/>
                <a:ea typeface="Red Hat Text" pitchFamily="34" charset="-122"/>
                <a:cs typeface="Times New Roman" panose="02020603050405020304" pitchFamily="18" charset="0"/>
              </a:rPr>
              <a:t>KẾT LUẬN VÀ HƯỚNG PHÁT TRIỂN</a:t>
            </a:r>
            <a:endParaRPr lang="en-US" sz="2800" dirty="0">
              <a:latin typeface="Times New Roman" panose="02020603050405020304" pitchFamily="18" charset="0"/>
              <a:cs typeface="Times New Roman" panose="02020603050405020304" pitchFamily="18" charset="0"/>
            </a:endParaRPr>
          </a:p>
        </p:txBody>
      </p:sp>
      <p:sp>
        <p:nvSpPr>
          <p:cNvPr id="4" name="Shape 12">
            <a:extLst>
              <a:ext uri="{FF2B5EF4-FFF2-40B4-BE49-F238E27FC236}">
                <a16:creationId xmlns:a16="http://schemas.microsoft.com/office/drawing/2014/main" id="{7F0495AE-3610-5AF4-70E7-FA5FB8FEAECA}"/>
              </a:ext>
            </a:extLst>
          </p:cNvPr>
          <p:cNvSpPr/>
          <p:nvPr/>
        </p:nvSpPr>
        <p:spPr>
          <a:xfrm>
            <a:off x="671154" y="1797222"/>
            <a:ext cx="3048000" cy="108477"/>
          </a:xfrm>
          <a:prstGeom prst="roundRect">
            <a:avLst>
              <a:gd name="adj" fmla="val 34360"/>
            </a:avLst>
          </a:prstGeom>
          <a:solidFill>
            <a:srgbClr val="F5A3A3"/>
          </a:solidFill>
          <a:ln/>
        </p:spPr>
      </p:sp>
      <p:sp>
        <p:nvSpPr>
          <p:cNvPr id="5" name="Shape 13">
            <a:extLst>
              <a:ext uri="{FF2B5EF4-FFF2-40B4-BE49-F238E27FC236}">
                <a16:creationId xmlns:a16="http://schemas.microsoft.com/office/drawing/2014/main" id="{7C306FF6-7DBA-7B94-9968-CF7594DBA42E}"/>
              </a:ext>
            </a:extLst>
          </p:cNvPr>
          <p:cNvSpPr/>
          <p:nvPr/>
        </p:nvSpPr>
        <p:spPr>
          <a:xfrm>
            <a:off x="1881007" y="1483075"/>
            <a:ext cx="628293" cy="628293"/>
          </a:xfrm>
          <a:prstGeom prst="roundRect">
            <a:avLst>
              <a:gd name="adj" fmla="val 145537"/>
            </a:avLst>
          </a:prstGeom>
          <a:solidFill>
            <a:srgbClr val="F5A3A3"/>
          </a:solidFill>
          <a:ln/>
        </p:spPr>
      </p:sp>
      <p:pic>
        <p:nvPicPr>
          <p:cNvPr id="6" name="Image 2" descr="preencoded.png">
            <a:extLst>
              <a:ext uri="{FF2B5EF4-FFF2-40B4-BE49-F238E27FC236}">
                <a16:creationId xmlns:a16="http://schemas.microsoft.com/office/drawing/2014/main" id="{35C4A821-633E-EB7D-1AE9-53469937CE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69482" y="1687901"/>
            <a:ext cx="251341" cy="251341"/>
          </a:xfrm>
          <a:prstGeom prst="rect">
            <a:avLst/>
          </a:prstGeom>
        </p:spPr>
      </p:pic>
      <p:sp>
        <p:nvSpPr>
          <p:cNvPr id="7" name="Text 14">
            <a:extLst>
              <a:ext uri="{FF2B5EF4-FFF2-40B4-BE49-F238E27FC236}">
                <a16:creationId xmlns:a16="http://schemas.microsoft.com/office/drawing/2014/main" id="{8551F909-695C-5290-B6FC-BABF4C3882EB}"/>
              </a:ext>
            </a:extLst>
          </p:cNvPr>
          <p:cNvSpPr/>
          <p:nvPr/>
        </p:nvSpPr>
        <p:spPr>
          <a:xfrm>
            <a:off x="796823" y="2284757"/>
            <a:ext cx="3047999" cy="429815"/>
          </a:xfrm>
          <a:prstGeom prst="rect">
            <a:avLst/>
          </a:prstGeom>
          <a:noFill/>
          <a:ln/>
        </p:spPr>
        <p:txBody>
          <a:bodyPr wrap="none" lIns="0" tIns="0" rIns="0" bIns="0" rtlCol="0" anchor="t"/>
          <a:lstStyle/>
          <a:p>
            <a:pPr marL="0" indent="0" algn="l">
              <a:lnSpc>
                <a:spcPts val="2400"/>
              </a:lnSpc>
              <a:buNone/>
            </a:pPr>
            <a:r>
              <a:rPr lang="en-US" sz="1600" dirty="0">
                <a:solidFill>
                  <a:srgbClr val="3B3535"/>
                </a:solidFill>
                <a:latin typeface="Times New Roman" panose="02020603050405020304" pitchFamily="18" charset="0"/>
                <a:ea typeface="Red Hat Text" pitchFamily="34" charset="-122"/>
                <a:cs typeface="Times New Roman" panose="02020603050405020304" pitchFamily="18" charset="0"/>
              </a:rPr>
              <a:t>Tích hợp Giải thích Mô hình (XAI)</a:t>
            </a:r>
            <a:endParaRPr lang="en-US" sz="1600" dirty="0">
              <a:latin typeface="Times New Roman" panose="02020603050405020304" pitchFamily="18" charset="0"/>
              <a:cs typeface="Times New Roman" panose="02020603050405020304" pitchFamily="18" charset="0"/>
            </a:endParaRPr>
          </a:p>
        </p:txBody>
      </p:sp>
      <p:sp>
        <p:nvSpPr>
          <p:cNvPr id="8" name="Text 15">
            <a:extLst>
              <a:ext uri="{FF2B5EF4-FFF2-40B4-BE49-F238E27FC236}">
                <a16:creationId xmlns:a16="http://schemas.microsoft.com/office/drawing/2014/main" id="{995F32E3-495F-D4FB-2073-3AC7B68097AD}"/>
              </a:ext>
            </a:extLst>
          </p:cNvPr>
          <p:cNvSpPr/>
          <p:nvPr/>
        </p:nvSpPr>
        <p:spPr>
          <a:xfrm>
            <a:off x="596241" y="2742280"/>
            <a:ext cx="3539682" cy="1537905"/>
          </a:xfrm>
          <a:prstGeom prst="rect">
            <a:avLst/>
          </a:prstGeom>
          <a:noFill/>
          <a:ln/>
        </p:spPr>
        <p:txBody>
          <a:bodyPr wrap="square" lIns="0" tIns="0" rIns="0" bIns="0" rtlCol="0" anchor="t"/>
          <a:lstStyle/>
          <a:p>
            <a:pPr marL="0" indent="0" algn="just">
              <a:lnSpc>
                <a:spcPct val="150000"/>
              </a:lnSpc>
              <a:buNone/>
            </a:pP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Áp dụng kỹ thuật Grad-CAM để trực quan hóa các vùng tổn thương mà mô hình dựa vào đó để đưa ra dự đoán, tăng độ tin cậy cho bác sĩ lâm sàng.</a:t>
            </a:r>
            <a:endParaRPr lang="en-US" dirty="0">
              <a:latin typeface="Times New Roman" panose="02020603050405020304" pitchFamily="18" charset="0"/>
              <a:cs typeface="Times New Roman" panose="02020603050405020304" pitchFamily="18" charset="0"/>
            </a:endParaRPr>
          </a:p>
        </p:txBody>
      </p:sp>
      <p:sp>
        <p:nvSpPr>
          <p:cNvPr id="10" name="Shape 17">
            <a:extLst>
              <a:ext uri="{FF2B5EF4-FFF2-40B4-BE49-F238E27FC236}">
                <a16:creationId xmlns:a16="http://schemas.microsoft.com/office/drawing/2014/main" id="{2D941C35-4873-6FAB-0BC4-12A2EF9341EC}"/>
              </a:ext>
            </a:extLst>
          </p:cNvPr>
          <p:cNvSpPr/>
          <p:nvPr/>
        </p:nvSpPr>
        <p:spPr>
          <a:xfrm>
            <a:off x="5274296" y="1790294"/>
            <a:ext cx="2879250" cy="108476"/>
          </a:xfrm>
          <a:prstGeom prst="roundRect">
            <a:avLst>
              <a:gd name="adj" fmla="val 34360"/>
            </a:avLst>
          </a:prstGeom>
          <a:solidFill>
            <a:srgbClr val="F5A3A3"/>
          </a:solidFill>
          <a:ln/>
        </p:spPr>
      </p:sp>
      <p:sp>
        <p:nvSpPr>
          <p:cNvPr id="11" name="Shape 18">
            <a:extLst>
              <a:ext uri="{FF2B5EF4-FFF2-40B4-BE49-F238E27FC236}">
                <a16:creationId xmlns:a16="http://schemas.microsoft.com/office/drawing/2014/main" id="{0A792648-0B3E-7AB6-4C02-B7113A35413A}"/>
              </a:ext>
            </a:extLst>
          </p:cNvPr>
          <p:cNvSpPr/>
          <p:nvPr/>
        </p:nvSpPr>
        <p:spPr>
          <a:xfrm>
            <a:off x="6484150" y="1487534"/>
            <a:ext cx="628293" cy="628293"/>
          </a:xfrm>
          <a:prstGeom prst="roundRect">
            <a:avLst>
              <a:gd name="adj" fmla="val 145537"/>
            </a:avLst>
          </a:prstGeom>
          <a:solidFill>
            <a:srgbClr val="F5A3A3"/>
          </a:solidFill>
          <a:ln/>
        </p:spPr>
      </p:sp>
      <p:pic>
        <p:nvPicPr>
          <p:cNvPr id="12" name="Image 3" descr="preencoded.png">
            <a:extLst>
              <a:ext uri="{FF2B5EF4-FFF2-40B4-BE49-F238E27FC236}">
                <a16:creationId xmlns:a16="http://schemas.microsoft.com/office/drawing/2014/main" id="{837B9724-535C-067F-E43F-378DC8DCB4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72625" y="1680974"/>
            <a:ext cx="251341" cy="251341"/>
          </a:xfrm>
          <a:prstGeom prst="rect">
            <a:avLst/>
          </a:prstGeom>
        </p:spPr>
      </p:pic>
      <p:sp>
        <p:nvSpPr>
          <p:cNvPr id="13" name="Text 19">
            <a:extLst>
              <a:ext uri="{FF2B5EF4-FFF2-40B4-BE49-F238E27FC236}">
                <a16:creationId xmlns:a16="http://schemas.microsoft.com/office/drawing/2014/main" id="{DC56E4AF-2798-5BFC-3325-7313E37162D9}"/>
              </a:ext>
            </a:extLst>
          </p:cNvPr>
          <p:cNvSpPr/>
          <p:nvPr/>
        </p:nvSpPr>
        <p:spPr>
          <a:xfrm>
            <a:off x="5237743" y="2284757"/>
            <a:ext cx="3372445" cy="308015"/>
          </a:xfrm>
          <a:prstGeom prst="rect">
            <a:avLst/>
          </a:prstGeom>
          <a:noFill/>
          <a:ln/>
        </p:spPr>
        <p:txBody>
          <a:bodyPr wrap="none" lIns="0" tIns="0" rIns="0" bIns="0" rtlCol="0" anchor="t"/>
          <a:lstStyle/>
          <a:p>
            <a:pPr marL="0" indent="0" algn="l">
              <a:lnSpc>
                <a:spcPts val="2400"/>
              </a:lnSpc>
              <a:buNone/>
            </a:pPr>
            <a:r>
              <a:rPr lang="en-US" sz="1900" dirty="0">
                <a:solidFill>
                  <a:srgbClr val="3B3535"/>
                </a:solidFill>
                <a:latin typeface="Times New Roman" panose="02020603050405020304" pitchFamily="18" charset="0"/>
                <a:ea typeface="Red Hat Text" pitchFamily="34" charset="-122"/>
                <a:cs typeface="Times New Roman" panose="02020603050405020304" pitchFamily="18" charset="0"/>
              </a:rPr>
              <a:t>Thử nghiệm Kiến trúc Tiên tiến</a:t>
            </a:r>
            <a:endParaRPr lang="en-US" sz="1900" dirty="0">
              <a:latin typeface="Times New Roman" panose="02020603050405020304" pitchFamily="18" charset="0"/>
              <a:cs typeface="Times New Roman" panose="02020603050405020304" pitchFamily="18" charset="0"/>
            </a:endParaRPr>
          </a:p>
        </p:txBody>
      </p:sp>
      <p:sp>
        <p:nvSpPr>
          <p:cNvPr id="14" name="Text 20">
            <a:extLst>
              <a:ext uri="{FF2B5EF4-FFF2-40B4-BE49-F238E27FC236}">
                <a16:creationId xmlns:a16="http://schemas.microsoft.com/office/drawing/2014/main" id="{39655784-F391-624A-7A09-9FC1E36F8B96}"/>
              </a:ext>
            </a:extLst>
          </p:cNvPr>
          <p:cNvSpPr/>
          <p:nvPr/>
        </p:nvSpPr>
        <p:spPr>
          <a:xfrm>
            <a:off x="5057065" y="2761702"/>
            <a:ext cx="3733800" cy="1861952"/>
          </a:xfrm>
          <a:prstGeom prst="rect">
            <a:avLst/>
          </a:prstGeom>
          <a:noFill/>
          <a:ln/>
        </p:spPr>
        <p:txBody>
          <a:bodyPr wrap="square" lIns="0" tIns="0" rIns="0" bIns="0" rtlCol="0" anchor="t"/>
          <a:lstStyle/>
          <a:p>
            <a:pPr marL="0" indent="0" algn="just">
              <a:lnSpc>
                <a:spcPct val="150000"/>
              </a:lnSpc>
              <a:buNone/>
            </a:pPr>
            <a:r>
              <a:rPr lang="en-US" dirty="0">
                <a:solidFill>
                  <a:srgbClr val="3B3535"/>
                </a:solidFill>
                <a:latin typeface="Times New Roman" panose="02020603050405020304" pitchFamily="18" charset="0"/>
                <a:ea typeface="Roboto Light" pitchFamily="34" charset="-122"/>
                <a:cs typeface="Times New Roman" panose="02020603050405020304" pitchFamily="18" charset="0"/>
              </a:rPr>
              <a:t>So sánh hiệu năng với các mô hình hiện đại hơn như DenseNet hoặc EfficientNet để tìm ra sự cân bằng tối ưu giữa độ chính xác và tốc độ xử lý.</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4013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4510</TotalTime>
  <Words>1507</Words>
  <Application>Microsoft Office PowerPoint</Application>
  <PresentationFormat>Trình chiếu Trên màn hình (4:3)</PresentationFormat>
  <Paragraphs>93</Paragraphs>
  <Slides>13</Slides>
  <Notes>0</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Impact</vt:lpstr>
      <vt:lpstr>Times New Roman</vt:lpstr>
      <vt:lpstr>Wingdings</vt:lpstr>
      <vt:lpstr>Office Theme</vt:lpstr>
      <vt:lpstr>TRƯỜNG ĐẠI HỌC TRÀ VINH</vt:lpstr>
      <vt:lpstr>Bản trình bày PowerPoint</vt:lpstr>
      <vt:lpstr>MÔ TẢ ĐỀ TÀI &amp; NGHIỆP VỤ </vt:lpstr>
      <vt:lpstr>TỔNG QUAN VỀ BÀI TOÁN PHÂN LOẠI ẢNH X-RAY PHỔI</vt:lpstr>
      <vt:lpstr>THÁCH THỨC VÀ BỘ DỮ LIỆU CHEST X-RAY PNEUMONIA</vt:lpstr>
      <vt:lpstr>NGHIÊN CỨU LÝ THUYẾT VỀ RESNET-34</vt:lpstr>
      <vt:lpstr>HIỆN THỰC HÓA NGHIÊN CỨU VÀ TIỀN XỬ LÝ DỮ LIỆU </vt:lpstr>
      <vt:lpstr>KẾT QUẢ HUẤN LUYỆN MÔ HÌNH</vt:lpstr>
      <vt:lpstr>PHÂN TÍCH BIỂU ĐỒ LOSS</vt:lpstr>
      <vt:lpstr>PHÂN TÍCH BIỂU ĐỒ ACCURACY</vt:lpstr>
      <vt:lpstr>ĐÁNH GIÁ CHI TIẾT TRÊN TẬP TEST </vt:lpstr>
      <vt:lpstr>KẾT LUẬN VÀ HƯỚNG PHÁT TRIỂN</vt:lpstr>
      <vt:lpstr>KẾT LUẬN VÀ HƯỚNG PHÁT TRIỂN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Lee Rain</dc:creator>
  <cp:lastModifiedBy>HP</cp:lastModifiedBy>
  <cp:revision>19</cp:revision>
  <dcterms:created xsi:type="dcterms:W3CDTF">2025-06-09T12:08:44Z</dcterms:created>
  <dcterms:modified xsi:type="dcterms:W3CDTF">2026-01-09T07:51:11Z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2025-05-25T00:00:00Z</vt:filetime>
  </property>
  <property fmtid="{D5CDD505-2E9C-101B-9397-08002B2CF9AE}" pid="3" name="Creator">
    <vt:lpwstr>Microsoft® PowerPoint® 2010</vt:lpwstr>
  </property>
  <property fmtid="{D5CDD505-2E9C-101B-9397-08002B2CF9AE}" pid="4" name="LastSaved">
    <vt:filetime>2025-06-09T00:00:00Z</vt:filetime>
  </property>
  <property fmtid="{D5CDD505-2E9C-101B-9397-08002B2CF9AE}" pid="5" name="Producer">
    <vt:lpwstr>Microsoft® PowerPoint® 2010</vt:lpwstr>
  </property>
</Properties>
</file>